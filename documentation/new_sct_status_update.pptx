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sldIdLst>
    <p:sldId id="306" r:id="rId5"/>
    <p:sldId id="304" r:id="rId6"/>
    <p:sldId id="317" r:id="rId7"/>
    <p:sldId id="329" r:id="rId8"/>
    <p:sldId id="324" r:id="rId9"/>
    <p:sldId id="327" r:id="rId10"/>
    <p:sldId id="313" r:id="rId11"/>
    <p:sldId id="321" r:id="rId12"/>
    <p:sldId id="328" r:id="rId13"/>
    <p:sldId id="319" r:id="rId14"/>
    <p:sldId id="325" r:id="rId15"/>
    <p:sldId id="326" r:id="rId16"/>
    <p:sldId id="316" r:id="rId17"/>
    <p:sldId id="3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8C4441-DE7E-4315-A673-D335A4D9628A}">
          <p14:sldIdLst>
            <p14:sldId id="306"/>
          </p14:sldIdLst>
        </p14:section>
        <p14:section name="Architecture" id="{7BC273E3-CCCD-4957-A7BE-79FF3A7EAC15}">
          <p14:sldIdLst>
            <p14:sldId id="304"/>
            <p14:sldId id="317"/>
            <p14:sldId id="329"/>
            <p14:sldId id="324"/>
            <p14:sldId id="327"/>
          </p14:sldIdLst>
        </p14:section>
        <p14:section name="Status" id="{118867AC-21EE-4AB5-8614-4B587055178F}">
          <p14:sldIdLst>
            <p14:sldId id="313"/>
            <p14:sldId id="321"/>
            <p14:sldId id="328"/>
          </p14:sldIdLst>
        </p14:section>
        <p14:section name="Information Needed" id="{FF477CC1-6478-4628-AAF0-A09AAB0E0F10}">
          <p14:sldIdLst>
            <p14:sldId id="319"/>
            <p14:sldId id="325"/>
            <p14:sldId id="326"/>
          </p14:sldIdLst>
        </p14:section>
        <p14:section name="Appendix" id="{0A6F93D4-47F6-40A5-94A0-FB600BDBC851}">
          <p14:sldIdLst>
            <p14:sldId id="316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496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7" y="594360"/>
            <a:ext cx="6800524" cy="2843784"/>
          </a:xfrm>
        </p:spPr>
        <p:txBody>
          <a:bodyPr>
            <a:normAutofit fontScale="90000"/>
          </a:bodyPr>
          <a:lstStyle/>
          <a:p>
            <a:r>
              <a:rPr lang="en-US" sz="5400" spc="400" dirty="0">
                <a:solidFill>
                  <a:schemeClr val="bg1"/>
                </a:solidFill>
              </a:rPr>
              <a:t>New SCT</a:t>
            </a:r>
            <a:br>
              <a:rPr lang="en-US" sz="5400" spc="400" dirty="0">
                <a:solidFill>
                  <a:schemeClr val="bg1"/>
                </a:solidFill>
              </a:rPr>
            </a:br>
            <a:r>
              <a:rPr lang="en-US" sz="5400" spc="400" dirty="0">
                <a:solidFill>
                  <a:schemeClr val="bg1"/>
                </a:solidFill>
              </a:rPr>
              <a:t>status updates</a:t>
            </a:r>
            <a:br>
              <a:rPr lang="en-US" sz="5400" spc="400" dirty="0">
                <a:solidFill>
                  <a:schemeClr val="bg1"/>
                </a:solidFill>
              </a:rPr>
            </a:br>
            <a:r>
              <a:rPr lang="en-US" sz="5400" spc="400" dirty="0">
                <a:solidFill>
                  <a:schemeClr val="bg1"/>
                </a:solidFill>
              </a:rPr>
              <a:t>v1.5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Giorgio Parma</a:t>
            </a:r>
          </a:p>
          <a:p>
            <a:r>
              <a:rPr lang="en-US" dirty="0"/>
              <a:t>22/11/2023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5" name="Graphic 4" descr="Rocket with solid fill">
            <a:extLst>
              <a:ext uri="{FF2B5EF4-FFF2-40B4-BE49-F238E27FC236}">
                <a16:creationId xmlns:a16="http://schemas.microsoft.com/office/drawing/2014/main" id="{5069A5C3-63A2-EAFE-9CC3-2DD09FD66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5985" y="3514153"/>
            <a:ext cx="237172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dirty="0"/>
              <a:t>High Level Software Architecture</a:t>
            </a:r>
          </a:p>
        </p:txBody>
      </p:sp>
      <p:pic>
        <p:nvPicPr>
          <p:cNvPr id="15" name="Picture 14" descr="A logo of a butterfly&#10;&#10;Description automatically generated">
            <a:extLst>
              <a:ext uri="{FF2B5EF4-FFF2-40B4-BE49-F238E27FC236}">
                <a16:creationId xmlns:a16="http://schemas.microsoft.com/office/drawing/2014/main" id="{A833A47E-76D3-4E0A-D2E3-E1F777CB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69" y="1596964"/>
            <a:ext cx="517795" cy="55047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7704719-E098-84ED-495F-4AC68681C31B}"/>
              </a:ext>
            </a:extLst>
          </p:cNvPr>
          <p:cNvSpPr txBox="1"/>
          <p:nvPr/>
        </p:nvSpPr>
        <p:spPr>
          <a:xfrm>
            <a:off x="2127386" y="1796898"/>
            <a:ext cx="250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Arepytools</a:t>
            </a:r>
            <a:r>
              <a:rPr lang="en-US" dirty="0"/>
              <a:t> (&gt;v1.6.0)</a:t>
            </a:r>
          </a:p>
        </p:txBody>
      </p:sp>
      <p:pic>
        <p:nvPicPr>
          <p:cNvPr id="34" name="Picture 33" descr="A blue and yellow snake&#10;&#10;Description automatically generated">
            <a:extLst>
              <a:ext uri="{FF2B5EF4-FFF2-40B4-BE49-F238E27FC236}">
                <a16:creationId xmlns:a16="http://schemas.microsoft.com/office/drawing/2014/main" id="{DA5A5463-6F60-C3FD-CBC5-B62799070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52" y="2423580"/>
            <a:ext cx="328043" cy="32804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1BBD5BE-131B-183D-211D-88ABCB22A40E}"/>
              </a:ext>
            </a:extLst>
          </p:cNvPr>
          <p:cNvSpPr txBox="1"/>
          <p:nvPr/>
        </p:nvSpPr>
        <p:spPr>
          <a:xfrm>
            <a:off x="2127385" y="2402435"/>
            <a:ext cx="250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Arepyextras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F387E4-704F-6F6F-050B-D45DBDAC097C}"/>
              </a:ext>
            </a:extLst>
          </p:cNvPr>
          <p:cNvSpPr txBox="1"/>
          <p:nvPr/>
        </p:nvSpPr>
        <p:spPr>
          <a:xfrm>
            <a:off x="2317108" y="2823306"/>
            <a:ext cx="2290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Perturbations (1.1.0)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574380-3E44-80EB-2508-26CF41103F07}"/>
              </a:ext>
            </a:extLst>
          </p:cNvPr>
          <p:cNvSpPr txBox="1"/>
          <p:nvPr/>
        </p:nvSpPr>
        <p:spPr>
          <a:xfrm>
            <a:off x="2317107" y="3213399"/>
            <a:ext cx="2401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iers_solid_tides</a:t>
            </a:r>
            <a:r>
              <a:rPr lang="en-US" sz="1600" b="1" dirty="0"/>
              <a:t> (1.0.0)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10EFB5-3250-5A01-F4BA-F66EE04C70AE}"/>
              </a:ext>
            </a:extLst>
          </p:cNvPr>
          <p:cNvSpPr txBox="1"/>
          <p:nvPr/>
        </p:nvSpPr>
        <p:spPr>
          <a:xfrm>
            <a:off x="2317106" y="3600164"/>
            <a:ext cx="1573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quality (1.1.0)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B477BD-6151-C657-78A3-76EC6548B356}"/>
              </a:ext>
            </a:extLst>
          </p:cNvPr>
          <p:cNvSpPr txBox="1"/>
          <p:nvPr/>
        </p:nvSpPr>
        <p:spPr>
          <a:xfrm>
            <a:off x="2317107" y="3986929"/>
            <a:ext cx="212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eo_products</a:t>
            </a:r>
            <a:r>
              <a:rPr lang="en-US" sz="1600" b="1" dirty="0"/>
              <a:t> (1.0.0)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CF4B97-B53C-F716-B7C3-3BEA0023BE13}"/>
              </a:ext>
            </a:extLst>
          </p:cNvPr>
          <p:cNvSpPr/>
          <p:nvPr/>
        </p:nvSpPr>
        <p:spPr>
          <a:xfrm>
            <a:off x="951722" y="1539548"/>
            <a:ext cx="3766549" cy="2985796"/>
          </a:xfrm>
          <a:prstGeom prst="rect">
            <a:avLst/>
          </a:prstGeom>
          <a:noFill/>
          <a:ln w="28575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77C05F-57E9-C77C-820C-E8C25133F33C}"/>
              </a:ext>
            </a:extLst>
          </p:cNvPr>
          <p:cNvSpPr/>
          <p:nvPr/>
        </p:nvSpPr>
        <p:spPr>
          <a:xfrm>
            <a:off x="5069635" y="1338361"/>
            <a:ext cx="6858205" cy="4791848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A black cat in a circle&#10;&#10;Description automatically generated">
            <a:extLst>
              <a:ext uri="{FF2B5EF4-FFF2-40B4-BE49-F238E27FC236}">
                <a16:creationId xmlns:a16="http://schemas.microsoft.com/office/drawing/2014/main" id="{B2FFCD0B-4706-792A-449A-45F4AD42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289" y="1426296"/>
            <a:ext cx="609610" cy="609610"/>
          </a:xfrm>
          <a:prstGeom prst="rect">
            <a:avLst/>
          </a:prstGeom>
        </p:spPr>
      </p:pic>
      <p:pic>
        <p:nvPicPr>
          <p:cNvPr id="61" name="Picture 60" descr="A blue and black logo&#10;&#10;Description automatically generated">
            <a:extLst>
              <a:ext uri="{FF2B5EF4-FFF2-40B4-BE49-F238E27FC236}">
                <a16:creationId xmlns:a16="http://schemas.microsoft.com/office/drawing/2014/main" id="{E47FC75C-9834-C3F7-936C-1A0E454A7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289" y="2105882"/>
            <a:ext cx="593106" cy="593106"/>
          </a:xfrm>
          <a:prstGeom prst="rect">
            <a:avLst/>
          </a:prstGeom>
        </p:spPr>
      </p:pic>
      <p:pic>
        <p:nvPicPr>
          <p:cNvPr id="63" name="Picture 62" descr="A logo of a fox&#10;&#10;Description automatically generated">
            <a:extLst>
              <a:ext uri="{FF2B5EF4-FFF2-40B4-BE49-F238E27FC236}">
                <a16:creationId xmlns:a16="http://schemas.microsoft.com/office/drawing/2014/main" id="{3772EFCE-745A-70CF-5B8C-44F239C3F9A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732" t="23648" r="18379" b="20407"/>
          <a:stretch/>
        </p:blipFill>
        <p:spPr>
          <a:xfrm>
            <a:off x="965787" y="2169033"/>
            <a:ext cx="589560" cy="532923"/>
          </a:xfrm>
          <a:prstGeom prst="rect">
            <a:avLst/>
          </a:prstGeom>
        </p:spPr>
      </p:pic>
      <p:sp>
        <p:nvSpPr>
          <p:cNvPr id="64" name="Rectangle: Diagonal Corners Snipped 63">
            <a:extLst>
              <a:ext uri="{FF2B5EF4-FFF2-40B4-BE49-F238E27FC236}">
                <a16:creationId xmlns:a16="http://schemas.microsoft.com/office/drawing/2014/main" id="{14558CF9-DAA8-5B94-EEA8-7D9309E9F4E5}"/>
              </a:ext>
            </a:extLst>
          </p:cNvPr>
          <p:cNvSpPr/>
          <p:nvPr/>
        </p:nvSpPr>
        <p:spPr>
          <a:xfrm>
            <a:off x="7347858" y="2709065"/>
            <a:ext cx="3004451" cy="646761"/>
          </a:xfrm>
          <a:prstGeom prst="snip2Diag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8E1650-1C57-EF4E-4FF6-1AA7CEDDBB11}"/>
              </a:ext>
            </a:extLst>
          </p:cNvPr>
          <p:cNvSpPr txBox="1"/>
          <p:nvPr/>
        </p:nvSpPr>
        <p:spPr>
          <a:xfrm>
            <a:off x="7473827" y="2863168"/>
            <a:ext cx="3004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Core algorithms and tools</a:t>
            </a:r>
            <a:endParaRPr lang="en-US" sz="1600" dirty="0"/>
          </a:p>
        </p:txBody>
      </p:sp>
      <p:pic>
        <p:nvPicPr>
          <p:cNvPr id="73" name="Graphic 72" descr="Lightbulb and gear with solid fill">
            <a:extLst>
              <a:ext uri="{FF2B5EF4-FFF2-40B4-BE49-F238E27FC236}">
                <a16:creationId xmlns:a16="http://schemas.microsoft.com/office/drawing/2014/main" id="{EFEDEE68-BF8B-2C3E-B3B5-7BB03B8F9E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114217">
            <a:off x="6714769" y="2706799"/>
            <a:ext cx="560830" cy="560830"/>
          </a:xfrm>
          <a:prstGeom prst="rect">
            <a:avLst/>
          </a:prstGeom>
        </p:spPr>
      </p:pic>
      <p:sp>
        <p:nvSpPr>
          <p:cNvPr id="74" name="Rectangle: Diagonal Corners Snipped 73">
            <a:extLst>
              <a:ext uri="{FF2B5EF4-FFF2-40B4-BE49-F238E27FC236}">
                <a16:creationId xmlns:a16="http://schemas.microsoft.com/office/drawing/2014/main" id="{AF59C42B-1500-0D16-8D1A-4BA4301FA241}"/>
              </a:ext>
            </a:extLst>
          </p:cNvPr>
          <p:cNvSpPr/>
          <p:nvPr/>
        </p:nvSpPr>
        <p:spPr>
          <a:xfrm>
            <a:off x="5233641" y="4394715"/>
            <a:ext cx="1455576" cy="478304"/>
          </a:xfrm>
          <a:prstGeom prst="snip2Diag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54506A-FB91-1B7F-00EC-2A87ECE5CACF}"/>
              </a:ext>
            </a:extLst>
          </p:cNvPr>
          <p:cNvSpPr txBox="1"/>
          <p:nvPr/>
        </p:nvSpPr>
        <p:spPr>
          <a:xfrm>
            <a:off x="5371296" y="4422708"/>
            <a:ext cx="15488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Product format auto-detection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E57DB4-25F4-0241-A3EB-D2C26DFA79E9}"/>
              </a:ext>
            </a:extLst>
          </p:cNvPr>
          <p:cNvSpPr txBox="1"/>
          <p:nvPr/>
        </p:nvSpPr>
        <p:spPr>
          <a:xfrm>
            <a:off x="5252386" y="4991036"/>
            <a:ext cx="175407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multi-mission input</a:t>
            </a:r>
          </a:p>
          <a:p>
            <a:r>
              <a:rPr lang="en-US" sz="1100" dirty="0"/>
              <a:t>- external orbit</a:t>
            </a:r>
          </a:p>
          <a:p>
            <a:r>
              <a:rPr lang="en-US" sz="1100" dirty="0"/>
              <a:t>- conversion to protocol-compliant object</a:t>
            </a:r>
          </a:p>
        </p:txBody>
      </p:sp>
      <p:sp>
        <p:nvSpPr>
          <p:cNvPr id="78" name="Rectangle: Diagonal Corners Snipped 77">
            <a:extLst>
              <a:ext uri="{FF2B5EF4-FFF2-40B4-BE49-F238E27FC236}">
                <a16:creationId xmlns:a16="http://schemas.microsoft.com/office/drawing/2014/main" id="{032C1326-C1B4-A2A7-EBD5-75685EC806CA}"/>
              </a:ext>
            </a:extLst>
          </p:cNvPr>
          <p:cNvSpPr/>
          <p:nvPr/>
        </p:nvSpPr>
        <p:spPr>
          <a:xfrm>
            <a:off x="7004901" y="4398589"/>
            <a:ext cx="1455576" cy="478304"/>
          </a:xfrm>
          <a:prstGeom prst="snip2Diag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FD9ACC-40FE-6F20-CB0D-0B9F7EF8810D}"/>
              </a:ext>
            </a:extLst>
          </p:cNvPr>
          <p:cNvSpPr txBox="1"/>
          <p:nvPr/>
        </p:nvSpPr>
        <p:spPr>
          <a:xfrm>
            <a:off x="7142556" y="4426582"/>
            <a:ext cx="1317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Analysis type auto-detection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C25DE7-1BB1-F4C3-8252-46F2243212DD}"/>
              </a:ext>
            </a:extLst>
          </p:cNvPr>
          <p:cNvSpPr txBox="1"/>
          <p:nvPr/>
        </p:nvSpPr>
        <p:spPr>
          <a:xfrm>
            <a:off x="7004901" y="4991036"/>
            <a:ext cx="175407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select proper analysis based on inputs</a:t>
            </a:r>
          </a:p>
          <a:p>
            <a:r>
              <a:rPr lang="en-US" sz="1100" dirty="0"/>
              <a:t>- import calibration sites database if needed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A8F7C8D-5115-5878-A921-A537DBC991FE}"/>
              </a:ext>
            </a:extLst>
          </p:cNvPr>
          <p:cNvCxnSpPr>
            <a:cxnSpLocks/>
          </p:cNvCxnSpPr>
          <p:nvPr/>
        </p:nvCxnSpPr>
        <p:spPr>
          <a:xfrm flipV="1">
            <a:off x="6007303" y="3489393"/>
            <a:ext cx="2698158" cy="800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5AFC322-D6B2-D466-7695-3D97047677E8}"/>
              </a:ext>
            </a:extLst>
          </p:cNvPr>
          <p:cNvCxnSpPr>
            <a:cxnSpLocks/>
          </p:cNvCxnSpPr>
          <p:nvPr/>
        </p:nvCxnSpPr>
        <p:spPr>
          <a:xfrm flipV="1">
            <a:off x="7801516" y="3526579"/>
            <a:ext cx="999584" cy="770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: Diagonal Corners Snipped 85">
            <a:extLst>
              <a:ext uri="{FF2B5EF4-FFF2-40B4-BE49-F238E27FC236}">
                <a16:creationId xmlns:a16="http://schemas.microsoft.com/office/drawing/2014/main" id="{6F409729-8373-F5BC-417C-A60F85D9150F}"/>
              </a:ext>
            </a:extLst>
          </p:cNvPr>
          <p:cNvSpPr/>
          <p:nvPr/>
        </p:nvSpPr>
        <p:spPr>
          <a:xfrm>
            <a:off x="8717792" y="4401253"/>
            <a:ext cx="1455576" cy="478304"/>
          </a:xfrm>
          <a:prstGeom prst="snip2Diag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DBF7AA6-1502-95DC-C447-A3DBCF95BA2B}"/>
              </a:ext>
            </a:extLst>
          </p:cNvPr>
          <p:cNvSpPr txBox="1"/>
          <p:nvPr/>
        </p:nvSpPr>
        <p:spPr>
          <a:xfrm>
            <a:off x="8771422" y="4435544"/>
            <a:ext cx="1487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Apply perturbations and corrections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4294689-1040-73C4-4218-7FA93925B24B}"/>
              </a:ext>
            </a:extLst>
          </p:cNvPr>
          <p:cNvSpPr txBox="1"/>
          <p:nvPr/>
        </p:nvSpPr>
        <p:spPr>
          <a:xfrm>
            <a:off x="8736417" y="4997984"/>
            <a:ext cx="14642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atmospheric and geophysics perturbations</a:t>
            </a:r>
          </a:p>
          <a:p>
            <a:r>
              <a:rPr lang="en-US" sz="1100" dirty="0"/>
              <a:t>- time corrections</a:t>
            </a:r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7FBF9089-D067-71C2-DD92-F68938D7C2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97811" y="1707504"/>
            <a:ext cx="656804" cy="656804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F8CB0DE3-FCE4-4E42-A36C-2AECE0C49507}"/>
              </a:ext>
            </a:extLst>
          </p:cNvPr>
          <p:cNvSpPr txBox="1"/>
          <p:nvPr/>
        </p:nvSpPr>
        <p:spPr>
          <a:xfrm>
            <a:off x="9669250" y="1686144"/>
            <a:ext cx="1525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Calibration sites DB</a:t>
            </a:r>
          </a:p>
        </p:txBody>
      </p:sp>
      <p:sp>
        <p:nvSpPr>
          <p:cNvPr id="108" name="Rectangle: Diagonal Corners Snipped 107">
            <a:extLst>
              <a:ext uri="{FF2B5EF4-FFF2-40B4-BE49-F238E27FC236}">
                <a16:creationId xmlns:a16="http://schemas.microsoft.com/office/drawing/2014/main" id="{1B45E62D-28AA-5577-5FF7-EEA5E7250390}"/>
              </a:ext>
            </a:extLst>
          </p:cNvPr>
          <p:cNvSpPr/>
          <p:nvPr/>
        </p:nvSpPr>
        <p:spPr>
          <a:xfrm>
            <a:off x="10365303" y="4401253"/>
            <a:ext cx="1455576" cy="478304"/>
          </a:xfrm>
          <a:prstGeom prst="snip2Diag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5B63DA2-1453-3252-DF40-8E61E1882370}"/>
              </a:ext>
            </a:extLst>
          </p:cNvPr>
          <p:cNvSpPr txBox="1"/>
          <p:nvPr/>
        </p:nvSpPr>
        <p:spPr>
          <a:xfrm>
            <a:off x="10502958" y="4429246"/>
            <a:ext cx="12553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Reporting and results storage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D81F7EE-861D-D668-A22C-E8A87A9C339F}"/>
              </a:ext>
            </a:extLst>
          </p:cNvPr>
          <p:cNvSpPr txBox="1"/>
          <p:nvPr/>
        </p:nvSpPr>
        <p:spPr>
          <a:xfrm>
            <a:off x="10360984" y="4997984"/>
            <a:ext cx="14642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notebook report</a:t>
            </a:r>
          </a:p>
          <a:p>
            <a:r>
              <a:rPr lang="en-US" sz="1100" dirty="0"/>
              <a:t>- interactive plots</a:t>
            </a:r>
          </a:p>
          <a:p>
            <a:r>
              <a:rPr lang="en-US" sz="1100" dirty="0"/>
              <a:t>- results storage in DB-like format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D65A512-7193-052F-D492-CF7C79B2B725}"/>
              </a:ext>
            </a:extLst>
          </p:cNvPr>
          <p:cNvCxnSpPr>
            <a:cxnSpLocks/>
          </p:cNvCxnSpPr>
          <p:nvPr/>
        </p:nvCxnSpPr>
        <p:spPr>
          <a:xfrm>
            <a:off x="8886825" y="3518156"/>
            <a:ext cx="558755" cy="7785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C75C9AC2-E7D6-0FB4-E0E8-21BE038C90B6}"/>
              </a:ext>
            </a:extLst>
          </p:cNvPr>
          <p:cNvCxnSpPr/>
          <p:nvPr/>
        </p:nvCxnSpPr>
        <p:spPr>
          <a:xfrm>
            <a:off x="9022080" y="3526579"/>
            <a:ext cx="1991360" cy="76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Graphic 125" descr="Download from cloud with solid fill">
            <a:extLst>
              <a:ext uri="{FF2B5EF4-FFF2-40B4-BE49-F238E27FC236}">
                <a16:creationId xmlns:a16="http://schemas.microsoft.com/office/drawing/2014/main" id="{1C5EA28D-7450-5F7A-48F0-2E5A4E15E7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7296" y="1753288"/>
            <a:ext cx="610257" cy="610257"/>
          </a:xfrm>
          <a:prstGeom prst="rect">
            <a:avLst/>
          </a:prstGeom>
        </p:spPr>
      </p:pic>
      <p:pic>
        <p:nvPicPr>
          <p:cNvPr id="127" name="Picture 126" descr="A blue and yellow snake&#10;&#10;Description automatically generated">
            <a:extLst>
              <a:ext uri="{FF2B5EF4-FFF2-40B4-BE49-F238E27FC236}">
                <a16:creationId xmlns:a16="http://schemas.microsoft.com/office/drawing/2014/main" id="{8928934B-3012-55D5-5DBF-DC287F50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52" y="1830949"/>
            <a:ext cx="328043" cy="328043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D66B21AF-C46D-5EED-D06D-21F566DCCF27}"/>
              </a:ext>
            </a:extLst>
          </p:cNvPr>
          <p:cNvSpPr txBox="1"/>
          <p:nvPr/>
        </p:nvSpPr>
        <p:spPr>
          <a:xfrm>
            <a:off x="6875613" y="1724856"/>
            <a:ext cx="190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Perturbations data download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210624B-143D-1B33-C367-20085B1E7979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7829293" y="2371187"/>
            <a:ext cx="860239" cy="2399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54B2634-7002-250B-E7F8-23A0B41569EB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8936255" y="2332475"/>
            <a:ext cx="1495793" cy="2624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B0DF5F6-0EFA-E6FA-A7B5-357483CAA52D}"/>
              </a:ext>
            </a:extLst>
          </p:cNvPr>
          <p:cNvSpPr txBox="1"/>
          <p:nvPr/>
        </p:nvSpPr>
        <p:spPr>
          <a:xfrm>
            <a:off x="1777286" y="4664113"/>
            <a:ext cx="21288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Private Side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E728C-38E0-F034-690B-4056B8939053}"/>
              </a:ext>
            </a:extLst>
          </p:cNvPr>
          <p:cNvSpPr txBox="1"/>
          <p:nvPr/>
        </p:nvSpPr>
        <p:spPr>
          <a:xfrm>
            <a:off x="6777562" y="6262245"/>
            <a:ext cx="3442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Open-Source Side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E176E6-80E7-27BA-ED17-48C7E519C27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5254" y="2782103"/>
            <a:ext cx="583141" cy="58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dirty="0"/>
              <a:t>High Level Software Architecture</a:t>
            </a: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040429A6-281E-2D71-8413-1B1A515B9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52" y="1156438"/>
            <a:ext cx="8793122" cy="54671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78A589-559E-9E20-AC5F-62A8C9D09FAA}"/>
              </a:ext>
            </a:extLst>
          </p:cNvPr>
          <p:cNvSpPr txBox="1"/>
          <p:nvPr/>
        </p:nvSpPr>
        <p:spPr>
          <a:xfrm>
            <a:off x="8307237" y="4597880"/>
            <a:ext cx="560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455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200" dirty="0"/>
              <a:t>High Level Software Architecture - </a:t>
            </a:r>
            <a:r>
              <a:rPr lang="en-US" sz="3200" dirty="0" err="1"/>
              <a:t>Arepyextras</a:t>
            </a:r>
            <a:endParaRPr lang="en-US" sz="3200" dirty="0"/>
          </a:p>
        </p:txBody>
      </p:sp>
      <p:pic>
        <p:nvPicPr>
          <p:cNvPr id="4" name="Picture 3" descr="A screenshot of a diagram&#10;&#10;Description automatically generated">
            <a:extLst>
              <a:ext uri="{FF2B5EF4-FFF2-40B4-BE49-F238E27FC236}">
                <a16:creationId xmlns:a16="http://schemas.microsoft.com/office/drawing/2014/main" id="{232D7DD6-3522-C987-C816-162443DA3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76" y="1108406"/>
            <a:ext cx="10432212" cy="55323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CC7969-F2A6-6C45-A463-E0F3A96C75E0}"/>
              </a:ext>
            </a:extLst>
          </p:cNvPr>
          <p:cNvSpPr/>
          <p:nvPr/>
        </p:nvSpPr>
        <p:spPr>
          <a:xfrm>
            <a:off x="1414732" y="1639019"/>
            <a:ext cx="9601200" cy="2562045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BDB1F-4187-F1C0-0940-A1D477F1441D}"/>
              </a:ext>
            </a:extLst>
          </p:cNvPr>
          <p:cNvSpPr txBox="1"/>
          <p:nvPr/>
        </p:nvSpPr>
        <p:spPr>
          <a:xfrm>
            <a:off x="8902460" y="1269687"/>
            <a:ext cx="271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SCT Dependencies</a:t>
            </a:r>
          </a:p>
        </p:txBody>
      </p:sp>
    </p:spTree>
    <p:extLst>
      <p:ext uri="{BB962C8B-B14F-4D97-AF65-F5344CB8AC3E}">
        <p14:creationId xmlns:p14="http://schemas.microsoft.com/office/powerpoint/2010/main" val="125415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dirty="0"/>
              <a:t>Supported Missions and Products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DF3748-FF46-3998-DDA4-FDF9C148D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816723"/>
              </p:ext>
            </p:extLst>
          </p:nvPr>
        </p:nvGraphicFramePr>
        <p:xfrm>
          <a:off x="996276" y="1075715"/>
          <a:ext cx="10199448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85">
                  <a:extLst>
                    <a:ext uri="{9D8B030D-6E8A-4147-A177-3AD203B41FA5}">
                      <a16:colId xmlns:a16="http://schemas.microsoft.com/office/drawing/2014/main" val="1498214684"/>
                    </a:ext>
                  </a:extLst>
                </a:gridCol>
                <a:gridCol w="3230881">
                  <a:extLst>
                    <a:ext uri="{9D8B030D-6E8A-4147-A177-3AD203B41FA5}">
                      <a16:colId xmlns:a16="http://schemas.microsoft.com/office/drawing/2014/main" val="2269859059"/>
                    </a:ext>
                  </a:extLst>
                </a:gridCol>
                <a:gridCol w="2090570">
                  <a:extLst>
                    <a:ext uri="{9D8B030D-6E8A-4147-A177-3AD203B41FA5}">
                      <a16:colId xmlns:a16="http://schemas.microsoft.com/office/drawing/2014/main" val="3925662890"/>
                    </a:ext>
                  </a:extLst>
                </a:gridCol>
                <a:gridCol w="1357512">
                  <a:extLst>
                    <a:ext uri="{9D8B030D-6E8A-4147-A177-3AD203B41FA5}">
                      <a16:colId xmlns:a16="http://schemas.microsoft.com/office/drawing/2014/main" val="69041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Product/Mission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078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Aresys</a:t>
                      </a:r>
                      <a:r>
                        <a:rPr lang="en-US" dirty="0"/>
                        <a:t> Product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Matlab</a:t>
                      </a:r>
                      <a:r>
                        <a:rPr lang="en-US" dirty="0"/>
                        <a:t>/Python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DONE</a:t>
                      </a:r>
                      <a:endParaRPr lang="en-US" sz="1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0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Sentinel-1 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DONE</a:t>
                      </a:r>
                      <a:endParaRPr lang="en-US" sz="1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702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RISAT-1A (US4)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98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NOVASAR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47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SAOCOM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Matlab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72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ICEYE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Matlab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8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PAZ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Matlab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1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TERRASAR-X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00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COSMO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1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RADARSAT-2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78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ROSE-L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6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KOMPSAT-5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3108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384C47-A372-2801-7263-88C665037276}"/>
              </a:ext>
            </a:extLst>
          </p:cNvPr>
          <p:cNvSpPr txBox="1"/>
          <p:nvPr/>
        </p:nvSpPr>
        <p:spPr>
          <a:xfrm>
            <a:off x="10645217" y="5974448"/>
            <a:ext cx="1101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EDAP</a:t>
            </a:r>
          </a:p>
          <a:p>
            <a:r>
              <a:rPr lang="en-US" sz="1400" dirty="0">
                <a:solidFill>
                  <a:srgbClr val="002060"/>
                </a:solidFill>
              </a:rPr>
              <a:t>MPC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243906-A7AF-683A-9858-871BD8DB5D31}"/>
              </a:ext>
            </a:extLst>
          </p:cNvPr>
          <p:cNvCxnSpPr/>
          <p:nvPr/>
        </p:nvCxnSpPr>
        <p:spPr>
          <a:xfrm>
            <a:off x="379562" y="3743865"/>
            <a:ext cx="11366668" cy="0"/>
          </a:xfrm>
          <a:prstGeom prst="line">
            <a:avLst/>
          </a:prstGeom>
          <a:ln w="381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A00223-C715-35FE-E25F-9F921A2C1E44}"/>
              </a:ext>
            </a:extLst>
          </p:cNvPr>
          <p:cNvSpPr txBox="1"/>
          <p:nvPr/>
        </p:nvSpPr>
        <p:spPr>
          <a:xfrm>
            <a:off x="10670779" y="3466866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April Release</a:t>
            </a:r>
          </a:p>
        </p:txBody>
      </p:sp>
    </p:spTree>
    <p:extLst>
      <p:ext uri="{BB962C8B-B14F-4D97-AF65-F5344CB8AC3E}">
        <p14:creationId xmlns:p14="http://schemas.microsoft.com/office/powerpoint/2010/main" val="201001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dirty="0"/>
              <a:t>OPEN POINTS (ESA)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2E019A-123B-AF6D-4564-51E402891A7D}"/>
              </a:ext>
            </a:extLst>
          </p:cNvPr>
          <p:cNvSpPr txBox="1">
            <a:spLocks/>
          </p:cNvSpPr>
          <p:nvPr/>
        </p:nvSpPr>
        <p:spPr>
          <a:xfrm>
            <a:off x="838200" y="2940910"/>
            <a:ext cx="10515600" cy="6052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OPEN POINTS (Internal)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997F64-401B-1EBC-3535-A6533B1E4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676654"/>
              </p:ext>
            </p:extLst>
          </p:nvPr>
        </p:nvGraphicFramePr>
        <p:xfrm>
          <a:off x="1120563" y="970384"/>
          <a:ext cx="9670932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644">
                  <a:extLst>
                    <a:ext uri="{9D8B030D-6E8A-4147-A177-3AD203B41FA5}">
                      <a16:colId xmlns:a16="http://schemas.microsoft.com/office/drawing/2014/main" val="2788006904"/>
                    </a:ext>
                  </a:extLst>
                </a:gridCol>
                <a:gridCol w="3223644">
                  <a:extLst>
                    <a:ext uri="{9D8B030D-6E8A-4147-A177-3AD203B41FA5}">
                      <a16:colId xmlns:a16="http://schemas.microsoft.com/office/drawing/2014/main" val="4063229635"/>
                    </a:ext>
                  </a:extLst>
                </a:gridCol>
                <a:gridCol w="3223644">
                  <a:extLst>
                    <a:ext uri="{9D8B030D-6E8A-4147-A177-3AD203B41FA5}">
                      <a16:colId xmlns:a16="http://schemas.microsoft.com/office/drawing/2014/main" val="4073128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Possible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18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Change IERS Solid Tides Fortran code management (deploy issue)</a:t>
                      </a:r>
                    </a:p>
                    <a:p>
                      <a:pPr algn="l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 </a:t>
                      </a:r>
                      <a:r>
                        <a:rPr lang="en-US" sz="1400" dirty="0" err="1"/>
                        <a:t>build_ci_tools</a:t>
                      </a:r>
                      <a:r>
                        <a:rPr lang="en-US" sz="1400" dirty="0"/>
                        <a:t>: multiple wheels platform dependent</a:t>
                      </a:r>
                    </a:p>
                    <a:p>
                      <a:pPr algn="l"/>
                      <a:r>
                        <a:rPr lang="en-US" sz="1400" dirty="0"/>
                        <a:t>- wheel compiled on target machine</a:t>
                      </a:r>
                    </a:p>
                    <a:p>
                      <a:pPr algn="l"/>
                      <a:r>
                        <a:rPr lang="en-US" sz="1400" dirty="0"/>
                        <a:t>- microservice?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0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Add configuration settings to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Save same input configuration to output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4651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D2F76D-E5F4-A42C-83C3-277B7EFBB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445901"/>
              </p:ext>
            </p:extLst>
          </p:nvPr>
        </p:nvGraphicFramePr>
        <p:xfrm>
          <a:off x="1120563" y="3612515"/>
          <a:ext cx="9670932" cy="2880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23644">
                  <a:extLst>
                    <a:ext uri="{9D8B030D-6E8A-4147-A177-3AD203B41FA5}">
                      <a16:colId xmlns:a16="http://schemas.microsoft.com/office/drawing/2014/main" val="2788006904"/>
                    </a:ext>
                  </a:extLst>
                </a:gridCol>
                <a:gridCol w="3223644">
                  <a:extLst>
                    <a:ext uri="{9D8B030D-6E8A-4147-A177-3AD203B41FA5}">
                      <a16:colId xmlns:a16="http://schemas.microsoft.com/office/drawing/2014/main" val="4063229635"/>
                    </a:ext>
                  </a:extLst>
                </a:gridCol>
                <a:gridCol w="3223644">
                  <a:extLst>
                    <a:ext uri="{9D8B030D-6E8A-4147-A177-3AD203B41FA5}">
                      <a16:colId xmlns:a16="http://schemas.microsoft.com/office/drawing/2014/main" val="4073128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Possible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18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Internal Docker for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Docker container with volume mounted from server where data persist?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0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Integrate RCS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Integrate existing scripts?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Interferometry: implement scripts (co-registration + coherency)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Integrate existing scripts</a:t>
                      </a:r>
                      <a:r>
                        <a:rPr lang="en-US" sz="1200" dirty="0"/>
                        <a:t>?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46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ETAD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Develop support for </a:t>
                      </a:r>
                      <a:r>
                        <a:rPr lang="en-US" sz="1400" dirty="0" err="1"/>
                        <a:t>etad</a:t>
                      </a:r>
                      <a:r>
                        <a:rPr lang="en-US" sz="1400" dirty="0"/>
                        <a:t> products in </a:t>
                      </a:r>
                      <a:r>
                        <a:rPr lang="en-US" sz="1400" dirty="0" err="1"/>
                        <a:t>eo_products</a:t>
                      </a:r>
                      <a:r>
                        <a:rPr lang="en-US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90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RISAT reader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Develop reader in </a:t>
                      </a:r>
                      <a:r>
                        <a:rPr lang="en-US" sz="1400" dirty="0" err="1"/>
                        <a:t>eo_products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17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cap="small" dirty="0"/>
              <a:t>Private Side </a:t>
            </a:r>
            <a:r>
              <a:rPr lang="en-US" sz="3600" dirty="0"/>
              <a:t>– UPDATES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FE47C-A4FF-D018-2E69-4649505A0101}"/>
              </a:ext>
            </a:extLst>
          </p:cNvPr>
          <p:cNvSpPr txBox="1"/>
          <p:nvPr/>
        </p:nvSpPr>
        <p:spPr>
          <a:xfrm>
            <a:off x="989039" y="2778435"/>
            <a:ext cx="1079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/>
              <a:t>Arepyextras</a:t>
            </a:r>
            <a:r>
              <a:rPr lang="en-US" b="1" cap="small" dirty="0"/>
              <a:t>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8366A-867E-0FC6-09B2-2DF8BB3E76E9}"/>
              </a:ext>
            </a:extLst>
          </p:cNvPr>
          <p:cNvSpPr txBox="1"/>
          <p:nvPr/>
        </p:nvSpPr>
        <p:spPr>
          <a:xfrm>
            <a:off x="989039" y="4184551"/>
            <a:ext cx="107955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/>
              <a:t>SCT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operation flow and configurability (accessible tunable parameters)	</a:t>
            </a: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dirty="0">
                <a:solidFill>
                  <a:srgbClr val="FFC000"/>
                </a:solidFill>
              </a:rPr>
              <a:t>[~DONE]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</a:t>
            </a:r>
            <a:r>
              <a:rPr lang="en-US" dirty="0">
                <a:solidFill>
                  <a:srgbClr val="FFC000"/>
                </a:solidFill>
              </a:rPr>
              <a:t>								</a:t>
            </a:r>
            <a:r>
              <a:rPr lang="en-US" dirty="0">
                <a:solidFill>
                  <a:srgbClr val="0070C0"/>
                </a:solidFill>
              </a:rPr>
              <a:t>[ONGOING]</a:t>
            </a:r>
            <a:endParaRPr lang="en-US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introduction of new products (ETAD and MPC)</a:t>
            </a:r>
            <a:r>
              <a:rPr lang="en-US" dirty="0">
                <a:solidFill>
                  <a:srgbClr val="C00000"/>
                </a:solidFill>
              </a:rPr>
              <a:t>					[TBD]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calibration sites gathering and database population + rethinking?</a:t>
            </a:r>
            <a:r>
              <a:rPr lang="en-US" dirty="0">
                <a:solidFill>
                  <a:srgbClr val="00B050"/>
                </a:solidFill>
              </a:rPr>
              <a:t>			</a:t>
            </a:r>
            <a:r>
              <a:rPr lang="en-US" dirty="0">
                <a:solidFill>
                  <a:srgbClr val="002060"/>
                </a:solidFill>
              </a:rPr>
              <a:t>[ON-HOLD]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interferometry analysis</a:t>
            </a:r>
            <a:r>
              <a:rPr lang="en-US" dirty="0">
                <a:solidFill>
                  <a:srgbClr val="C00000"/>
                </a:solidFill>
              </a:rPr>
              <a:t>							[?]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1D568-0E52-A5B3-A9D7-5930939B8919}"/>
              </a:ext>
            </a:extLst>
          </p:cNvPr>
          <p:cNvSpPr txBox="1"/>
          <p:nvPr/>
        </p:nvSpPr>
        <p:spPr>
          <a:xfrm>
            <a:off x="989041" y="1372319"/>
            <a:ext cx="10795519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cap="small" dirty="0"/>
              <a:t>MILESTONE 2/2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SLC complete Point Target Analysis and benchmarking with old SCT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GRD complete Point Target Analysis and benchmarking with old SCT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</p:txBody>
      </p:sp>
    </p:spTree>
    <p:extLst>
      <p:ext uri="{BB962C8B-B14F-4D97-AF65-F5344CB8AC3E}">
        <p14:creationId xmlns:p14="http://schemas.microsoft.com/office/powerpoint/2010/main" val="1731143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cap="small" dirty="0"/>
              <a:t>Private Side </a:t>
            </a:r>
            <a:r>
              <a:rPr lang="en-US" sz="3600" dirty="0"/>
              <a:t>– COMPLETED TASKS 1/2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FE47C-A4FF-D018-2E69-4649505A0101}"/>
              </a:ext>
            </a:extLst>
          </p:cNvPr>
          <p:cNvSpPr txBox="1"/>
          <p:nvPr/>
        </p:nvSpPr>
        <p:spPr>
          <a:xfrm>
            <a:off x="1026364" y="2446299"/>
            <a:ext cx="107955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/>
              <a:t>Arepyextras</a:t>
            </a:r>
            <a:r>
              <a:rPr lang="en-US" b="1" cap="small" dirty="0"/>
              <a:t>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refactoring to allow protocol-compliant input injection	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refactoring to allow new </a:t>
            </a:r>
            <a:r>
              <a:rPr lang="en-US" dirty="0" err="1"/>
              <a:t>Aresys</a:t>
            </a:r>
            <a:r>
              <a:rPr lang="en-US" dirty="0"/>
              <a:t> product folder format from </a:t>
            </a:r>
            <a:r>
              <a:rPr lang="en-US" dirty="0" err="1"/>
              <a:t>arepytools</a:t>
            </a:r>
            <a:r>
              <a:rPr lang="en-US" dirty="0">
                <a:solidFill>
                  <a:srgbClr val="00B050"/>
                </a:solidFill>
              </a:rPr>
              <a:t>		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Radiometric Profiles (NESZ, Gamma, Scallop) implementation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SCT legacy report conversion</a:t>
            </a:r>
            <a:r>
              <a:rPr lang="en-US" dirty="0">
                <a:solidFill>
                  <a:srgbClr val="0070C0"/>
                </a:solidFill>
              </a:rPr>
              <a:t>				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B62A5-28A3-DC91-954B-F04A7E97FBD4}"/>
              </a:ext>
            </a:extLst>
          </p:cNvPr>
          <p:cNvSpPr txBox="1"/>
          <p:nvPr/>
        </p:nvSpPr>
        <p:spPr>
          <a:xfrm>
            <a:off x="1026366" y="1280806"/>
            <a:ext cx="10795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/>
              <a:t>Arepytools</a:t>
            </a:r>
            <a:endParaRPr lang="en-US" b="1" cap="smal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</a:t>
            </a:r>
            <a:r>
              <a:rPr lang="en-US" dirty="0" err="1"/>
              <a:t>Aresys</a:t>
            </a:r>
            <a:r>
              <a:rPr lang="en-US" dirty="0"/>
              <a:t> product folder format implementation	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internal point target products management implementation</a:t>
            </a: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8366A-867E-0FC6-09B2-2DF8BB3E76E9}"/>
              </a:ext>
            </a:extLst>
          </p:cNvPr>
          <p:cNvSpPr txBox="1"/>
          <p:nvPr/>
        </p:nvSpPr>
        <p:spPr>
          <a:xfrm>
            <a:off x="1026363" y="4097333"/>
            <a:ext cx="107955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/>
              <a:t>SCT 1/2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perturbations management: understand where and how	</a:t>
            </a:r>
            <a:r>
              <a:rPr lang="en-US" dirty="0">
                <a:solidFill>
                  <a:srgbClr val="C00000"/>
                </a:solidFill>
              </a:rPr>
              <a:t>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corrections management: understand where and how</a:t>
            </a:r>
            <a:r>
              <a:rPr lang="en-US" dirty="0">
                <a:solidFill>
                  <a:srgbClr val="C00000"/>
                </a:solidFill>
              </a:rPr>
              <a:t>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calibration sites SQLite database schema definition	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new internal repository to host the project</a:t>
            </a:r>
            <a:r>
              <a:rPr lang="en-US" dirty="0">
                <a:solidFill>
                  <a:srgbClr val="C00000"/>
                </a:solidFill>
              </a:rPr>
              <a:t>	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orbits management: understand where and how</a:t>
            </a:r>
            <a:r>
              <a:rPr lang="en-US" dirty="0">
                <a:solidFill>
                  <a:srgbClr val="C00000"/>
                </a:solidFill>
              </a:rPr>
              <a:t>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SAFE reader, compliant with input protocol</a:t>
            </a:r>
            <a:r>
              <a:rPr lang="en-US" dirty="0">
                <a:solidFill>
                  <a:srgbClr val="00B050"/>
                </a:solidFill>
              </a:rPr>
              <a:t>					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calibration sites SQLite database schema definition	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SQLite calibration site generation (scripts + DB)</a:t>
            </a:r>
            <a:r>
              <a:rPr lang="en-US" dirty="0">
                <a:solidFill>
                  <a:srgbClr val="00B050"/>
                </a:solidFill>
              </a:rPr>
              <a:t>					[DONE]</a:t>
            </a:r>
          </a:p>
        </p:txBody>
      </p:sp>
    </p:spTree>
    <p:extLst>
      <p:ext uri="{BB962C8B-B14F-4D97-AF65-F5344CB8AC3E}">
        <p14:creationId xmlns:p14="http://schemas.microsoft.com/office/powerpoint/2010/main" val="328518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cap="small" dirty="0"/>
              <a:t>Private Side </a:t>
            </a:r>
            <a:r>
              <a:rPr lang="en-US" sz="3600" dirty="0"/>
              <a:t>– COMPLETED TASKS 2/2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B552B-30A3-281A-18C8-D5C2DDB5507E}"/>
              </a:ext>
            </a:extLst>
          </p:cNvPr>
          <p:cNvSpPr txBox="1"/>
          <p:nvPr/>
        </p:nvSpPr>
        <p:spPr>
          <a:xfrm>
            <a:off x="1000485" y="1144637"/>
            <a:ext cx="107955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/>
              <a:t>SCT 2/2</a:t>
            </a:r>
          </a:p>
          <a:p>
            <a:endParaRPr lang="en-US" b="1" cap="smal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orbits management: understand where and how</a:t>
            </a:r>
            <a:r>
              <a:rPr lang="en-US" dirty="0">
                <a:solidFill>
                  <a:srgbClr val="C00000"/>
                </a:solidFill>
              </a:rPr>
              <a:t>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orbits module (specific for sentinel-1) implementation</a:t>
            </a:r>
            <a:r>
              <a:rPr lang="en-US" dirty="0">
                <a:solidFill>
                  <a:srgbClr val="C00000"/>
                </a:solidFill>
              </a:rPr>
              <a:t>	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corrections module (specific for sentinel-1) implementation	</a:t>
            </a:r>
            <a:r>
              <a:rPr lang="en-US" dirty="0">
                <a:solidFill>
                  <a:srgbClr val="C00000"/>
                </a:solidFill>
              </a:rPr>
              <a:t>		</a:t>
            </a:r>
            <a:r>
              <a:rPr lang="en-US" dirty="0">
                <a:solidFill>
                  <a:srgbClr val="00B050"/>
                </a:solidFill>
              </a:rPr>
              <a:t>[DONE]</a:t>
            </a:r>
          </a:p>
        </p:txBody>
      </p:sp>
    </p:spTree>
    <p:extLst>
      <p:ext uri="{BB962C8B-B14F-4D97-AF65-F5344CB8AC3E}">
        <p14:creationId xmlns:p14="http://schemas.microsoft.com/office/powerpoint/2010/main" val="4178585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cap="small" dirty="0"/>
              <a:t>Private side </a:t>
            </a:r>
            <a:r>
              <a:rPr lang="en-US" sz="3600" dirty="0"/>
              <a:t>– Calibration Sites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FE47C-A4FF-D018-2E69-4649505A0101}"/>
              </a:ext>
            </a:extLst>
          </p:cNvPr>
          <p:cNvSpPr txBox="1"/>
          <p:nvPr/>
        </p:nvSpPr>
        <p:spPr>
          <a:xfrm>
            <a:off x="942391" y="2006082"/>
            <a:ext cx="10795519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Calibration sites DB management:</a:t>
            </a:r>
          </a:p>
          <a:p>
            <a:endParaRPr lang="en-US" sz="28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How to manage calibration sites different from Surat Basin?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Delays? RCS? In DB or to be evaluated through formulas? (if they are signal dependent, they cannot be in a DB)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Support for external .csv template source file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Rosamond? Very difficult to add to DB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1F55A-C667-B0F5-1D6D-EC547AD40213}"/>
              </a:ext>
            </a:extLst>
          </p:cNvPr>
          <p:cNvSpPr txBox="1"/>
          <p:nvPr/>
        </p:nvSpPr>
        <p:spPr>
          <a:xfrm>
            <a:off x="3054220" y="1239712"/>
            <a:ext cx="608355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Amasis MT Pro Black" panose="020F0502020204030204" pitchFamily="18" charset="0"/>
              </a:rPr>
              <a:t>INFORMATION NEEDED</a:t>
            </a:r>
          </a:p>
        </p:txBody>
      </p:sp>
    </p:spTree>
    <p:extLst>
      <p:ext uri="{BB962C8B-B14F-4D97-AF65-F5344CB8AC3E}">
        <p14:creationId xmlns:p14="http://schemas.microsoft.com/office/powerpoint/2010/main" val="1464788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cap="small" dirty="0"/>
              <a:t>Private side </a:t>
            </a:r>
            <a:r>
              <a:rPr lang="en-US" sz="3600" dirty="0"/>
              <a:t>– Web Scraping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FE47C-A4FF-D018-2E69-4649505A0101}"/>
              </a:ext>
            </a:extLst>
          </p:cNvPr>
          <p:cNvSpPr txBox="1"/>
          <p:nvPr/>
        </p:nvSpPr>
        <p:spPr>
          <a:xfrm>
            <a:off x="942391" y="2225157"/>
            <a:ext cx="1079551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Automatic download of what is needed to perform a complete</a:t>
            </a:r>
          </a:p>
          <a:p>
            <a:r>
              <a:rPr lang="en-US" sz="2800" dirty="0"/>
              <a:t>Analysis: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Rosamond point target data download (free access) DONE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Troposphere maps download (free access) DONE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Ionosphere maps download (authentication needed)</a:t>
            </a:r>
          </a:p>
          <a:p>
            <a:endParaRPr lang="en-US" sz="2800" dirty="0"/>
          </a:p>
          <a:p>
            <a:r>
              <a:rPr lang="en-US" sz="2800" dirty="0"/>
              <a:t>As a separate module? Internal only?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1F55A-C667-B0F5-1D6D-EC547AD40213}"/>
              </a:ext>
            </a:extLst>
          </p:cNvPr>
          <p:cNvSpPr txBox="1"/>
          <p:nvPr/>
        </p:nvSpPr>
        <p:spPr>
          <a:xfrm>
            <a:off x="3054220" y="1239712"/>
            <a:ext cx="608355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Amasis MT Pro Black" panose="020F0502020204030204" pitchFamily="18" charset="0"/>
              </a:rPr>
              <a:t>INFORMATION NEEDED</a:t>
            </a:r>
          </a:p>
        </p:txBody>
      </p:sp>
    </p:spTree>
    <p:extLst>
      <p:ext uri="{BB962C8B-B14F-4D97-AF65-F5344CB8AC3E}">
        <p14:creationId xmlns:p14="http://schemas.microsoft.com/office/powerpoint/2010/main" val="301122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cap="small" dirty="0"/>
              <a:t>Private side </a:t>
            </a:r>
            <a:r>
              <a:rPr lang="en-US" sz="3600" dirty="0"/>
              <a:t>– Open-Source Boundaries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FE47C-A4FF-D018-2E69-4649505A0101}"/>
              </a:ext>
            </a:extLst>
          </p:cNvPr>
          <p:cNvSpPr txBox="1"/>
          <p:nvPr/>
        </p:nvSpPr>
        <p:spPr>
          <a:xfrm>
            <a:off x="942391" y="2225157"/>
            <a:ext cx="107955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Understand what’s open-source and what’s not.</a:t>
            </a:r>
          </a:p>
          <a:p>
            <a:endParaRPr lang="en-US" sz="2800" dirty="0"/>
          </a:p>
          <a:p>
            <a:r>
              <a:rPr lang="en-US" sz="2800" dirty="0"/>
              <a:t>Define boundaries for the application as per ESA request.</a:t>
            </a:r>
          </a:p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1F55A-C667-B0F5-1D6D-EC547AD40213}"/>
              </a:ext>
            </a:extLst>
          </p:cNvPr>
          <p:cNvSpPr txBox="1"/>
          <p:nvPr/>
        </p:nvSpPr>
        <p:spPr>
          <a:xfrm>
            <a:off x="3054220" y="1239712"/>
            <a:ext cx="608355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Amasis MT Pro Black" panose="020F0502020204030204" pitchFamily="18" charset="0"/>
              </a:rPr>
              <a:t>INFORMATION NEEDED</a:t>
            </a:r>
          </a:p>
        </p:txBody>
      </p:sp>
    </p:spTree>
    <p:extLst>
      <p:ext uri="{BB962C8B-B14F-4D97-AF65-F5344CB8AC3E}">
        <p14:creationId xmlns:p14="http://schemas.microsoft.com/office/powerpoint/2010/main" val="3641827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05259"/>
          </a:xfrm>
        </p:spPr>
        <p:txBody>
          <a:bodyPr>
            <a:noAutofit/>
          </a:bodyPr>
          <a:lstStyle/>
          <a:p>
            <a:r>
              <a:rPr lang="en-US" sz="3600" cap="small" dirty="0"/>
              <a:t>Public Side </a:t>
            </a:r>
            <a:r>
              <a:rPr lang="en-US" sz="3600" dirty="0"/>
              <a:t>– Status Updates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FE47C-A4FF-D018-2E69-4649505A0101}"/>
              </a:ext>
            </a:extLst>
          </p:cNvPr>
          <p:cNvSpPr txBox="1"/>
          <p:nvPr/>
        </p:nvSpPr>
        <p:spPr>
          <a:xfrm>
            <a:off x="979712" y="2672179"/>
            <a:ext cx="107955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/>
              <a:t>Arepyextras</a:t>
            </a:r>
            <a:endParaRPr lang="en-US" b="1" cap="small" dirty="0"/>
          </a:p>
          <a:p>
            <a:r>
              <a:rPr lang="en-US" b="1" cap="small" dirty="0"/>
              <a:t>	Quality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Release wheel v1.1 publishing on </a:t>
            </a:r>
            <a:r>
              <a:rPr lang="en-US" i="1" dirty="0"/>
              <a:t>Python Package Index (</a:t>
            </a:r>
            <a:r>
              <a:rPr lang="en-US" i="1" dirty="0" err="1"/>
              <a:t>PyPI</a:t>
            </a:r>
            <a:r>
              <a:rPr lang="en-US" i="1" dirty="0"/>
              <a:t>)</a:t>
            </a:r>
            <a:r>
              <a:rPr lang="en-US" i="1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</a:rPr>
              <a:t>[TBD]</a:t>
            </a:r>
            <a:endParaRPr lang="en-US" i="1" dirty="0">
              <a:solidFill>
                <a:srgbClr val="C00000"/>
              </a:solidFill>
            </a:endParaRPr>
          </a:p>
          <a:p>
            <a:r>
              <a:rPr lang="en-US" b="1" cap="small" dirty="0"/>
              <a:t>	Perturbations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Release wheel v1.1 publishing on </a:t>
            </a:r>
            <a:r>
              <a:rPr lang="en-US" i="1" dirty="0"/>
              <a:t>Python Package Index (</a:t>
            </a:r>
            <a:r>
              <a:rPr lang="en-US" i="1" dirty="0" err="1"/>
              <a:t>PyPI</a:t>
            </a:r>
            <a:r>
              <a:rPr lang="en-US" i="1" dirty="0"/>
              <a:t>)</a:t>
            </a:r>
            <a:r>
              <a:rPr lang="en-US" i="1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</a:rPr>
              <a:t>[TBD]</a:t>
            </a:r>
            <a:endParaRPr lang="en-US" i="1" dirty="0"/>
          </a:p>
          <a:p>
            <a:pPr lvl="3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B62A5-28A3-DC91-954B-F04A7E97FBD4}"/>
              </a:ext>
            </a:extLst>
          </p:cNvPr>
          <p:cNvSpPr txBox="1"/>
          <p:nvPr/>
        </p:nvSpPr>
        <p:spPr>
          <a:xfrm>
            <a:off x="979711" y="1553358"/>
            <a:ext cx="10795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/>
              <a:t>Arepytools</a:t>
            </a:r>
            <a:endParaRPr lang="en-US" b="1" cap="smal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Release wheel v1.6.0 publishing on </a:t>
            </a:r>
            <a:r>
              <a:rPr lang="en-US" i="1" dirty="0"/>
              <a:t>Python Package Index (</a:t>
            </a:r>
            <a:r>
              <a:rPr lang="en-US" i="1" dirty="0" err="1"/>
              <a:t>PyPI</a:t>
            </a:r>
            <a:r>
              <a:rPr lang="en-US" i="1" dirty="0"/>
              <a:t>)			</a:t>
            </a:r>
            <a:r>
              <a:rPr lang="en-US" dirty="0">
                <a:solidFill>
                  <a:srgbClr val="C00000"/>
                </a:solidFill>
              </a:rPr>
              <a:t>[TBD]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8366A-867E-0FC6-09B2-2DF8BB3E76E9}"/>
              </a:ext>
            </a:extLst>
          </p:cNvPr>
          <p:cNvSpPr txBox="1"/>
          <p:nvPr/>
        </p:nvSpPr>
        <p:spPr>
          <a:xfrm>
            <a:off x="979712" y="4426505"/>
            <a:ext cx="10795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/>
              <a:t>SCT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new public </a:t>
            </a:r>
            <a:r>
              <a:rPr lang="en-US" dirty="0" err="1"/>
              <a:t>github</a:t>
            </a:r>
            <a:r>
              <a:rPr lang="en-US" dirty="0"/>
              <a:t> repository						</a:t>
            </a:r>
            <a:r>
              <a:rPr lang="en-US" dirty="0">
                <a:solidFill>
                  <a:srgbClr val="C00000"/>
                </a:solidFill>
              </a:rPr>
              <a:t>[TBD]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Release SCT side of project as open-source code and pre-built docker image	</a:t>
            </a:r>
            <a:r>
              <a:rPr lang="en-US" dirty="0">
                <a:solidFill>
                  <a:srgbClr val="C00000"/>
                </a:solidFill>
              </a:rPr>
              <a:t>[TBD]</a:t>
            </a:r>
          </a:p>
        </p:txBody>
      </p:sp>
    </p:spTree>
    <p:extLst>
      <p:ext uri="{BB962C8B-B14F-4D97-AF65-F5344CB8AC3E}">
        <p14:creationId xmlns:p14="http://schemas.microsoft.com/office/powerpoint/2010/main" val="375382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92474E6-3035-46B8-9C05-9B4204E8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06/11/2023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811370" y="1675796"/>
            <a:ext cx="3314382" cy="365125"/>
          </a:xfrm>
        </p:spPr>
        <p:txBody>
          <a:bodyPr/>
          <a:lstStyle/>
          <a:p>
            <a:r>
              <a:rPr lang="en-US" dirty="0"/>
              <a:t>New SCT – Status updates</a:t>
            </a:r>
          </a:p>
        </p:txBody>
      </p:sp>
      <p:pic>
        <p:nvPicPr>
          <p:cNvPr id="9" name="Picture Placeholder 8" descr="mountains at sunset">
            <a:extLst>
              <a:ext uri="{FF2B5EF4-FFF2-40B4-BE49-F238E27FC236}">
                <a16:creationId xmlns:a16="http://schemas.microsoft.com/office/drawing/2014/main" id="{C82DA925-978C-48A9-98AD-0653B7A3D2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41" b="41"/>
          <a:stretch/>
        </p:blipFill>
        <p:spPr/>
      </p:pic>
      <p:pic>
        <p:nvPicPr>
          <p:cNvPr id="11" name="Picture Placeholder 10" descr="mountains at sunset">
            <a:extLst>
              <a:ext uri="{FF2B5EF4-FFF2-40B4-BE49-F238E27FC236}">
                <a16:creationId xmlns:a16="http://schemas.microsoft.com/office/drawing/2014/main" id="{E63B7C3F-04A4-43F6-881D-FA11061CBA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t="347" b="347"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5" name="Picture Placeholder 14" descr="mountains under near dusk sky">
            <a:extLst>
              <a:ext uri="{FF2B5EF4-FFF2-40B4-BE49-F238E27FC236}">
                <a16:creationId xmlns:a16="http://schemas.microsoft.com/office/drawing/2014/main" id="{3D15FDC1-74B5-4FD8-BD17-0E2502C411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/>
          <a:srcRect l="16" r="16"/>
          <a:stretch/>
        </p:blipFill>
        <p:spPr/>
      </p:pic>
      <p:pic>
        <p:nvPicPr>
          <p:cNvPr id="13" name="Picture Placeholder 12" descr="mountains under the night sky just before dawn">
            <a:extLst>
              <a:ext uri="{FF2B5EF4-FFF2-40B4-BE49-F238E27FC236}">
                <a16:creationId xmlns:a16="http://schemas.microsoft.com/office/drawing/2014/main" id="{E02C4914-F076-4415-9C5D-A9BDB6CC611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/>
          <a:srcRect t="108" b="108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319C6-E47E-68F7-834A-03036B417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D909BD3F-B240-4348-8BE3-67FDD68BA7A7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A67D12-FAB5-406C-9279-3EAA5A20A6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{0847EA3F-EF77-45EF-B5CC-186D36D9A9C2}tf89338750_win32</Template>
  <TotalTime>1509</TotalTime>
  <Words>931</Words>
  <Application>Microsoft Office PowerPoint</Application>
  <PresentationFormat>Widescreen</PresentationFormat>
  <Paragraphs>193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ADLaM Display</vt:lpstr>
      <vt:lpstr>Amasis MT Pro Black</vt:lpstr>
      <vt:lpstr>Arial</vt:lpstr>
      <vt:lpstr>Calibri</vt:lpstr>
      <vt:lpstr>Univers</vt:lpstr>
      <vt:lpstr>Custom</vt:lpstr>
      <vt:lpstr>New SCT status updates v1.5</vt:lpstr>
      <vt:lpstr>High Level Software Architecture</vt:lpstr>
      <vt:lpstr>High Level Software Architecture</vt:lpstr>
      <vt:lpstr>High Level Software Architecture - Arepyextras</vt:lpstr>
      <vt:lpstr>Supported Missions and Products</vt:lpstr>
      <vt:lpstr>OPEN POINTS (ESA)</vt:lpstr>
      <vt:lpstr>Private Side – UPDATES</vt:lpstr>
      <vt:lpstr>Private Side – COMPLETED TASKS 1/2</vt:lpstr>
      <vt:lpstr>Private Side – COMPLETED TASKS 2/2</vt:lpstr>
      <vt:lpstr>Private side – Calibration Sites</vt:lpstr>
      <vt:lpstr>Private side – Web Scraping</vt:lpstr>
      <vt:lpstr>Private side – Open-Source Boundaries</vt:lpstr>
      <vt:lpstr>Public Side – Status Updates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Integration Tests CI</dc:title>
  <dc:creator>Giorgio Parma</dc:creator>
  <cp:lastModifiedBy>Giorgio Parma</cp:lastModifiedBy>
  <cp:revision>53</cp:revision>
  <dcterms:created xsi:type="dcterms:W3CDTF">2023-09-19T08:16:15Z</dcterms:created>
  <dcterms:modified xsi:type="dcterms:W3CDTF">2024-02-12T10:00:38Z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