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notesMasterIdLst>
    <p:notesMasterId r:id="rId20"/>
  </p:notesMasterIdLst>
  <p:sldIdLst>
    <p:sldId id="306" r:id="rId5"/>
    <p:sldId id="304" r:id="rId6"/>
    <p:sldId id="317" r:id="rId7"/>
    <p:sldId id="330" r:id="rId8"/>
    <p:sldId id="329" r:id="rId9"/>
    <p:sldId id="324" r:id="rId10"/>
    <p:sldId id="327" r:id="rId11"/>
    <p:sldId id="313" r:id="rId12"/>
    <p:sldId id="321" r:id="rId13"/>
    <p:sldId id="328" r:id="rId14"/>
    <p:sldId id="319" r:id="rId15"/>
    <p:sldId id="325" r:id="rId16"/>
    <p:sldId id="326" r:id="rId17"/>
    <p:sldId id="316" r:id="rId18"/>
    <p:sldId id="31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88C4441-DE7E-4315-A673-D335A4D9628A}">
          <p14:sldIdLst>
            <p14:sldId id="306"/>
          </p14:sldIdLst>
        </p14:section>
        <p14:section name="Architecture" id="{7BC273E3-CCCD-4957-A7BE-79FF3A7EAC15}">
          <p14:sldIdLst>
            <p14:sldId id="304"/>
            <p14:sldId id="317"/>
            <p14:sldId id="330"/>
            <p14:sldId id="329"/>
            <p14:sldId id="324"/>
            <p14:sldId id="327"/>
          </p14:sldIdLst>
        </p14:section>
        <p14:section name="Status" id="{118867AC-21EE-4AB5-8614-4B587055178F}">
          <p14:sldIdLst>
            <p14:sldId id="313"/>
            <p14:sldId id="321"/>
            <p14:sldId id="328"/>
          </p14:sldIdLst>
        </p14:section>
        <p14:section name="Information Needed" id="{FF477CC1-6478-4628-AAF0-A09AAB0E0F10}">
          <p14:sldIdLst>
            <p14:sldId id="319"/>
            <p14:sldId id="325"/>
            <p14:sldId id="326"/>
          </p14:sldIdLst>
        </p14:section>
        <p14:section name="Appendix" id="{0A6F93D4-47F6-40A5-94A0-FB600BDBC851}">
          <p14:sldIdLst>
            <p14:sldId id="316"/>
            <p14:sldId id="31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4967" autoAdjust="0"/>
  </p:normalViewPr>
  <p:slideViewPr>
    <p:cSldViewPr snapToGrid="0">
      <p:cViewPr varScale="1">
        <p:scale>
          <a:sx n="104" d="100"/>
          <a:sy n="104" d="100"/>
        </p:scale>
        <p:origin x="132" y="252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25-Mar-24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78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8448" y="594360"/>
            <a:ext cx="6272784" cy="2843784"/>
          </a:xfrm>
        </p:spPr>
        <p:txBody>
          <a:bodyPr anchor="b"/>
          <a:lstStyle>
            <a:lvl1pPr algn="l">
              <a:defRPr sz="5400" b="1" i="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41848" y="4700016"/>
            <a:ext cx="5093208" cy="1197864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</a:extLst>
          </p:cNvPr>
          <p:cNvCxnSpPr>
            <a:cxnSpLocks/>
          </p:cNvCxnSpPr>
          <p:nvPr userDrawn="1"/>
        </p:nvCxnSpPr>
        <p:spPr>
          <a:xfrm>
            <a:off x="1301262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Graphic 12">
            <a:extLst>
              <a:ext uri="{FF2B5EF4-FFF2-40B4-BE49-F238E27FC236}">
                <a16:creationId xmlns:a16="http://schemas.microsoft.com/office/drawing/2014/main" id="{818B4386-1FCF-4ACE-BE25-AF9CC5E2256F}"/>
              </a:ext>
            </a:extLst>
          </p:cNvPr>
          <p:cNvSpPr/>
          <p:nvPr userDrawn="1"/>
        </p:nvSpPr>
        <p:spPr>
          <a:xfrm>
            <a:off x="8217780" y="29738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Graphic 13">
            <a:extLst>
              <a:ext uri="{FF2B5EF4-FFF2-40B4-BE49-F238E27FC236}">
                <a16:creationId xmlns:a16="http://schemas.microsoft.com/office/drawing/2014/main" id="{19319560-50ED-4963-A2CF-74663239D426}"/>
              </a:ext>
            </a:extLst>
          </p:cNvPr>
          <p:cNvSpPr/>
          <p:nvPr userDrawn="1"/>
        </p:nvSpPr>
        <p:spPr>
          <a:xfrm>
            <a:off x="7859002" y="2744546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Graphic 15">
            <a:extLst>
              <a:ext uri="{FF2B5EF4-FFF2-40B4-BE49-F238E27FC236}">
                <a16:creationId xmlns:a16="http://schemas.microsoft.com/office/drawing/2014/main" id="{E5ABBDAD-943D-48F3-9C80-B29C48966C79}"/>
              </a:ext>
            </a:extLst>
          </p:cNvPr>
          <p:cNvSpPr/>
          <p:nvPr userDrawn="1"/>
        </p:nvSpPr>
        <p:spPr>
          <a:xfrm>
            <a:off x="7843462" y="3198265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366432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2936" y="585216"/>
            <a:ext cx="5833872" cy="2276856"/>
          </a:xfrm>
        </p:spPr>
        <p:txBody>
          <a:bodyPr anchor="b"/>
          <a:lstStyle>
            <a:lvl1pPr algn="r">
              <a:defRPr sz="6000" b="1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548640" y="1938528"/>
            <a:ext cx="278892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2936" y="3127248"/>
            <a:ext cx="5833872" cy="3118104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</a:extLst>
          </p:cNvPr>
          <p:cNvSpPr/>
          <p:nvPr userDrawn="1"/>
        </p:nvSpPr>
        <p:spPr>
          <a:xfrm>
            <a:off x="1669987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51965" y="1665520"/>
            <a:ext cx="4266960" cy="426696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335024"/>
            <a:ext cx="6190488" cy="1179576"/>
          </a:xfrm>
        </p:spPr>
        <p:txBody>
          <a:bodyPr lIns="91440" tIns="45720" rIns="91440" bIns="45720"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2825496"/>
            <a:ext cx="6190488" cy="3346704"/>
          </a:xfrm>
        </p:spPr>
        <p:txBody>
          <a:bodyPr/>
          <a:lstStyle>
            <a:lvl1pPr marL="0" indent="0">
              <a:lnSpc>
                <a:spcPct val="110000"/>
              </a:lnSpc>
              <a:buNone/>
              <a:defRPr sz="2000"/>
            </a:lvl1pPr>
            <a:lvl2pPr marL="228600">
              <a:defRPr sz="1800"/>
            </a:lvl2pPr>
            <a:lvl3pPr marL="457200">
              <a:defRPr sz="1600"/>
            </a:lvl3pPr>
            <a:lvl4pPr marL="685800"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64424" y="621792"/>
            <a:ext cx="4114800" cy="365125"/>
          </a:xfr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0" y="806470"/>
            <a:ext cx="7903723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raphic 10">
            <a:extLst>
              <a:ext uri="{FF2B5EF4-FFF2-40B4-BE49-F238E27FC236}">
                <a16:creationId xmlns:a16="http://schemas.microsoft.com/office/drawing/2014/main" id="{AAD06B87-D9B2-4F94-B734-A8F039A2033F}"/>
              </a:ext>
            </a:extLst>
          </p:cNvPr>
          <p:cNvSpPr/>
          <p:nvPr userDrawn="1"/>
        </p:nvSpPr>
        <p:spPr>
          <a:xfrm>
            <a:off x="11281590" y="2070656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Graphic 11">
            <a:extLst>
              <a:ext uri="{FF2B5EF4-FFF2-40B4-BE49-F238E27FC236}">
                <a16:creationId xmlns:a16="http://schemas.microsoft.com/office/drawing/2014/main" id="{BB13A13C-36EA-4B13-9175-C5FE95B34D33}"/>
              </a:ext>
            </a:extLst>
          </p:cNvPr>
          <p:cNvSpPr/>
          <p:nvPr userDrawn="1"/>
        </p:nvSpPr>
        <p:spPr>
          <a:xfrm>
            <a:off x="10969280" y="178001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3040"/>
            <a:ext cx="9144000" cy="2340864"/>
          </a:xfrm>
        </p:spPr>
        <p:txBody>
          <a:bodyPr anchor="b">
            <a:normAutofit/>
          </a:bodyPr>
          <a:lstStyle>
            <a:lvl1pPr algn="ctr">
              <a:defRPr sz="6000" b="1" i="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3858768"/>
            <a:ext cx="9144000" cy="132588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Graphic 12">
            <a:extLst>
              <a:ext uri="{FF2B5EF4-FFF2-40B4-BE49-F238E27FC236}">
                <a16:creationId xmlns:a16="http://schemas.microsoft.com/office/drawing/2014/main" id="{8A41917E-4B97-447C-98AB-970D625F1DE6}"/>
              </a:ext>
            </a:extLst>
          </p:cNvPr>
          <p:cNvSpPr/>
          <p:nvPr userDrawn="1"/>
        </p:nvSpPr>
        <p:spPr>
          <a:xfrm>
            <a:off x="10772266" y="3054359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Graphic 13">
            <a:extLst>
              <a:ext uri="{FF2B5EF4-FFF2-40B4-BE49-F238E27FC236}">
                <a16:creationId xmlns:a16="http://schemas.microsoft.com/office/drawing/2014/main" id="{3B3FD238-4561-4AF8-A1F1-185B0CAFE2AC}"/>
              </a:ext>
            </a:extLst>
          </p:cNvPr>
          <p:cNvSpPr/>
          <p:nvPr userDrawn="1"/>
        </p:nvSpPr>
        <p:spPr>
          <a:xfrm>
            <a:off x="10724364" y="2515838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Graphic 15">
            <a:extLst>
              <a:ext uri="{FF2B5EF4-FFF2-40B4-BE49-F238E27FC236}">
                <a16:creationId xmlns:a16="http://schemas.microsoft.com/office/drawing/2014/main" id="{BAB9414C-AE69-4648-873E-9CE6B2DF8A71}"/>
              </a:ext>
            </a:extLst>
          </p:cNvPr>
          <p:cNvSpPr/>
          <p:nvPr userDrawn="1"/>
        </p:nvSpPr>
        <p:spPr>
          <a:xfrm>
            <a:off x="11024834" y="2787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Graphic 22">
            <a:extLst>
              <a:ext uri="{FF2B5EF4-FFF2-40B4-BE49-F238E27FC236}">
                <a16:creationId xmlns:a16="http://schemas.microsoft.com/office/drawing/2014/main" id="{3BF75235-4E6E-4184-82A5-EE6FE7993BBC}"/>
              </a:ext>
            </a:extLst>
          </p:cNvPr>
          <p:cNvSpPr/>
          <p:nvPr userDrawn="1"/>
        </p:nvSpPr>
        <p:spPr>
          <a:xfrm>
            <a:off x="1261869" y="2633448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raphic 21">
            <a:extLst>
              <a:ext uri="{FF2B5EF4-FFF2-40B4-BE49-F238E27FC236}">
                <a16:creationId xmlns:a16="http://schemas.microsoft.com/office/drawing/2014/main" id="{E66FE37C-2F4B-42DA-BFF6-92DD00BDC49B}"/>
              </a:ext>
            </a:extLst>
          </p:cNvPr>
          <p:cNvSpPr/>
          <p:nvPr userDrawn="1"/>
        </p:nvSpPr>
        <p:spPr>
          <a:xfrm>
            <a:off x="1064053" y="3083338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23">
            <a:extLst>
              <a:ext uri="{FF2B5EF4-FFF2-40B4-BE49-F238E27FC236}">
                <a16:creationId xmlns:a16="http://schemas.microsoft.com/office/drawing/2014/main" id="{DDD38822-731A-48DA-A8A0-FBBAF7A6D65D}"/>
              </a:ext>
            </a:extLst>
          </p:cNvPr>
          <p:cNvSpPr/>
          <p:nvPr userDrawn="1"/>
        </p:nvSpPr>
        <p:spPr>
          <a:xfrm>
            <a:off x="1413405" y="3492870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2482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1656" y="841248"/>
            <a:ext cx="4434840" cy="3236976"/>
          </a:xfrm>
        </p:spPr>
        <p:txBody>
          <a:bodyPr anchor="b"/>
          <a:lstStyle>
            <a:lvl1pPr algn="l">
              <a:lnSpc>
                <a:spcPct val="110000"/>
              </a:lnSpc>
              <a:spcBef>
                <a:spcPts val="1000"/>
              </a:spcBef>
              <a:defRPr sz="3600" b="0" i="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655" y="4498848"/>
            <a:ext cx="4434835" cy="510474"/>
          </a:xfrm>
        </p:spPr>
        <p:txBody>
          <a:bodyPr/>
          <a:lstStyle>
            <a:lvl1pPr marL="0" indent="0" algn="l">
              <a:lnSpc>
                <a:spcPct val="11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811512" y="1591056"/>
            <a:ext cx="3547872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464" y="301752"/>
            <a:ext cx="5221224" cy="6263640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048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65125"/>
            <a:ext cx="10771632" cy="1325563"/>
          </a:xfrm>
        </p:spPr>
        <p:txBody>
          <a:bodyPr/>
          <a:lstStyle>
            <a:lvl1pPr>
              <a:defRPr sz="54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72" y="1825625"/>
            <a:ext cx="10771632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03920" y="841248"/>
            <a:ext cx="363016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Graphic 22">
            <a:extLst>
              <a:ext uri="{FF2B5EF4-FFF2-40B4-BE49-F238E27FC236}">
                <a16:creationId xmlns:a16="http://schemas.microsoft.com/office/drawing/2014/main" id="{4EADA2ED-8A8C-4D17-8798-F26BF3B4CE25}"/>
              </a:ext>
            </a:extLst>
          </p:cNvPr>
          <p:cNvSpPr/>
          <p:nvPr userDrawn="1"/>
        </p:nvSpPr>
        <p:spPr>
          <a:xfrm>
            <a:off x="11202264" y="344083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raphic 23">
            <a:extLst>
              <a:ext uri="{FF2B5EF4-FFF2-40B4-BE49-F238E27FC236}">
                <a16:creationId xmlns:a16="http://schemas.microsoft.com/office/drawing/2014/main" id="{54AB3A25-6605-4446-9E53-ACEECD25E27B}"/>
              </a:ext>
            </a:extLst>
          </p:cNvPr>
          <p:cNvSpPr/>
          <p:nvPr userDrawn="1"/>
        </p:nvSpPr>
        <p:spPr>
          <a:xfrm>
            <a:off x="11563141" y="590910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63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44752" y="1825625"/>
            <a:ext cx="4553712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84848" y="1825625"/>
            <a:ext cx="4553712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Graphic 15">
            <a:extLst>
              <a:ext uri="{FF2B5EF4-FFF2-40B4-BE49-F238E27FC236}">
                <a16:creationId xmlns:a16="http://schemas.microsoft.com/office/drawing/2014/main" id="{D8685329-C6A1-4CB4-8AAE-150D0341F6A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Graphic 16">
            <a:extLst>
              <a:ext uri="{FF2B5EF4-FFF2-40B4-BE49-F238E27FC236}">
                <a16:creationId xmlns:a16="http://schemas.microsoft.com/office/drawing/2014/main" id="{83CE1DAA-30A3-41AE-8AE1-A7EE5C48A6F3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4">
            <a:extLst>
              <a:ext uri="{FF2B5EF4-FFF2-40B4-BE49-F238E27FC236}">
                <a16:creationId xmlns:a16="http://schemas.microsoft.com/office/drawing/2014/main" id="{065162DD-7ACB-4F9C-90DD-24C743035892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288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4752" y="1681163"/>
            <a:ext cx="45537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4752" y="2505075"/>
            <a:ext cx="4553712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84848" y="1681163"/>
            <a:ext cx="45537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84848" y="2505075"/>
            <a:ext cx="4553712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4752" y="1681163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4752" y="2505075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983480" y="1681163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983480" y="2505075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D693B15-7265-4478-9579-62FCD522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31352" y="1769269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48F9E92F-BB16-4896-A47F-6497C3D705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31352" y="2593181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73079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91656" y="804672"/>
            <a:ext cx="4434840" cy="886968"/>
          </a:xfrm>
        </p:spPr>
        <p:txBody>
          <a:bodyPr anchor="b"/>
          <a:lstStyle>
            <a:lvl1pPr algn="l">
              <a:defRPr sz="5400" b="0" i="0" cap="none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654" y="1801368"/>
            <a:ext cx="4434840" cy="4754880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811512" y="1591056"/>
            <a:ext cx="3547872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464" y="3108960"/>
            <a:ext cx="5221224" cy="3447288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Picture Placeholder 12">
            <a:extLst>
              <a:ext uri="{FF2B5EF4-FFF2-40B4-BE49-F238E27FC236}">
                <a16:creationId xmlns:a16="http://schemas.microsoft.com/office/drawing/2014/main" id="{F146D6C1-343E-4F97-A565-55BBB15F4C7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83464" y="301752"/>
            <a:ext cx="2459736" cy="2505456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Picture Placeholder 12">
            <a:extLst>
              <a:ext uri="{FF2B5EF4-FFF2-40B4-BE49-F238E27FC236}">
                <a16:creationId xmlns:a16="http://schemas.microsoft.com/office/drawing/2014/main" id="{BA123E2D-4554-47D5-B0EC-0C47EDB416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044952" y="301752"/>
            <a:ext cx="2459736" cy="2505456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891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3186EA6A-5CD5-4DF7-9C8A-EDFAF28A80D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77111" y="407499"/>
            <a:ext cx="1952279" cy="1952279"/>
          </a:xfrm>
          <a:custGeom>
            <a:avLst/>
            <a:gdLst>
              <a:gd name="connsiteX0" fmla="*/ 976140 w 1952279"/>
              <a:gd name="connsiteY0" fmla="*/ 0 h 1952279"/>
              <a:gd name="connsiteX1" fmla="*/ 1952279 w 1952279"/>
              <a:gd name="connsiteY1" fmla="*/ 976140 h 1952279"/>
              <a:gd name="connsiteX2" fmla="*/ 976140 w 1952279"/>
              <a:gd name="connsiteY2" fmla="*/ 1952279 h 1952279"/>
              <a:gd name="connsiteX3" fmla="*/ 0 w 1952279"/>
              <a:gd name="connsiteY3" fmla="*/ 976140 h 1952279"/>
              <a:gd name="connsiteX4" fmla="*/ 976140 w 1952279"/>
              <a:gd name="connsiteY4" fmla="*/ 0 h 1952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2279" h="1952279">
                <a:moveTo>
                  <a:pt x="976140" y="0"/>
                </a:moveTo>
                <a:cubicBezTo>
                  <a:pt x="1515247" y="0"/>
                  <a:pt x="1952279" y="437033"/>
                  <a:pt x="1952279" y="976140"/>
                </a:cubicBezTo>
                <a:cubicBezTo>
                  <a:pt x="1952279" y="1515246"/>
                  <a:pt x="1515247" y="1952279"/>
                  <a:pt x="976140" y="1952279"/>
                </a:cubicBezTo>
                <a:cubicBezTo>
                  <a:pt x="437033" y="1952279"/>
                  <a:pt x="0" y="1515246"/>
                  <a:pt x="0" y="976140"/>
                </a:cubicBezTo>
                <a:cubicBezTo>
                  <a:pt x="0" y="437033"/>
                  <a:pt x="437033" y="0"/>
                  <a:pt x="976140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83D5117F-F235-498D-99A5-9DE2D66557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528345" y="1972581"/>
            <a:ext cx="2290065" cy="2273502"/>
          </a:xfrm>
          <a:custGeom>
            <a:avLst/>
            <a:gdLst>
              <a:gd name="connsiteX0" fmla="*/ 1145032 w 2290065"/>
              <a:gd name="connsiteY0" fmla="*/ 0 h 2273502"/>
              <a:gd name="connsiteX1" fmla="*/ 2290065 w 2290065"/>
              <a:gd name="connsiteY1" fmla="*/ 1145033 h 2273502"/>
              <a:gd name="connsiteX2" fmla="*/ 1375797 w 2290065"/>
              <a:gd name="connsiteY2" fmla="*/ 2266803 h 2273502"/>
              <a:gd name="connsiteX3" fmla="*/ 1331903 w 2290065"/>
              <a:gd name="connsiteY3" fmla="*/ 2273502 h 2273502"/>
              <a:gd name="connsiteX4" fmla="*/ 958162 w 2290065"/>
              <a:gd name="connsiteY4" fmla="*/ 2273502 h 2273502"/>
              <a:gd name="connsiteX5" fmla="*/ 914268 w 2290065"/>
              <a:gd name="connsiteY5" fmla="*/ 2266803 h 2273502"/>
              <a:gd name="connsiteX6" fmla="*/ 5911 w 2290065"/>
              <a:gd name="connsiteY6" fmla="*/ 1262106 h 2273502"/>
              <a:gd name="connsiteX7" fmla="*/ 0 w 2290065"/>
              <a:gd name="connsiteY7" fmla="*/ 1145053 h 2273502"/>
              <a:gd name="connsiteX8" fmla="*/ 0 w 2290065"/>
              <a:gd name="connsiteY8" fmla="*/ 1145014 h 2273502"/>
              <a:gd name="connsiteX9" fmla="*/ 5911 w 2290065"/>
              <a:gd name="connsiteY9" fmla="*/ 1027960 h 2273502"/>
              <a:gd name="connsiteX10" fmla="*/ 1145032 w 2290065"/>
              <a:gd name="connsiteY10" fmla="*/ 0 h 227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90065" h="2273502">
                <a:moveTo>
                  <a:pt x="1145032" y="0"/>
                </a:moveTo>
                <a:cubicBezTo>
                  <a:pt x="1777417" y="0"/>
                  <a:pt x="2290065" y="512649"/>
                  <a:pt x="2290065" y="1145033"/>
                </a:cubicBezTo>
                <a:cubicBezTo>
                  <a:pt x="2290065" y="1698370"/>
                  <a:pt x="1897569" y="2160033"/>
                  <a:pt x="1375797" y="2266803"/>
                </a:cubicBezTo>
                <a:lnTo>
                  <a:pt x="1331903" y="2273502"/>
                </a:lnTo>
                <a:lnTo>
                  <a:pt x="958162" y="2273502"/>
                </a:lnTo>
                <a:lnTo>
                  <a:pt x="914268" y="2266803"/>
                </a:lnTo>
                <a:cubicBezTo>
                  <a:pt x="429765" y="2167660"/>
                  <a:pt x="56730" y="1762511"/>
                  <a:pt x="5911" y="1262106"/>
                </a:cubicBezTo>
                <a:lnTo>
                  <a:pt x="0" y="1145053"/>
                </a:lnTo>
                <a:lnTo>
                  <a:pt x="0" y="1145014"/>
                </a:lnTo>
                <a:lnTo>
                  <a:pt x="5911" y="1027960"/>
                </a:lnTo>
                <a:cubicBezTo>
                  <a:pt x="64548" y="450571"/>
                  <a:pt x="552172" y="0"/>
                  <a:pt x="1145032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E1E0A794-F1D3-4628-B5B1-9D48AB34C3D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579539" y="4386312"/>
            <a:ext cx="3119293" cy="2462810"/>
          </a:xfrm>
          <a:custGeom>
            <a:avLst/>
            <a:gdLst>
              <a:gd name="connsiteX0" fmla="*/ 1559647 w 3119293"/>
              <a:gd name="connsiteY0" fmla="*/ 0 h 2462810"/>
              <a:gd name="connsiteX1" fmla="*/ 3119293 w 3119293"/>
              <a:gd name="connsiteY1" fmla="*/ 1559647 h 2462810"/>
              <a:gd name="connsiteX2" fmla="*/ 2852930 w 3119293"/>
              <a:gd name="connsiteY2" fmla="*/ 2431660 h 2462810"/>
              <a:gd name="connsiteX3" fmla="*/ 2829636 w 3119293"/>
              <a:gd name="connsiteY3" fmla="*/ 2462810 h 2462810"/>
              <a:gd name="connsiteX4" fmla="*/ 289658 w 3119293"/>
              <a:gd name="connsiteY4" fmla="*/ 2462810 h 2462810"/>
              <a:gd name="connsiteX5" fmla="*/ 266363 w 3119293"/>
              <a:gd name="connsiteY5" fmla="*/ 2431660 h 2462810"/>
              <a:gd name="connsiteX6" fmla="*/ 0 w 3119293"/>
              <a:gd name="connsiteY6" fmla="*/ 1559647 h 2462810"/>
              <a:gd name="connsiteX7" fmla="*/ 1559647 w 3119293"/>
              <a:gd name="connsiteY7" fmla="*/ 0 h 246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19293" h="2462810">
                <a:moveTo>
                  <a:pt x="1559647" y="0"/>
                </a:moveTo>
                <a:cubicBezTo>
                  <a:pt x="2421016" y="0"/>
                  <a:pt x="3119293" y="698278"/>
                  <a:pt x="3119293" y="1559647"/>
                </a:cubicBezTo>
                <a:cubicBezTo>
                  <a:pt x="3119293" y="1882660"/>
                  <a:pt x="3021098" y="2182739"/>
                  <a:pt x="2852930" y="2431660"/>
                </a:cubicBezTo>
                <a:lnTo>
                  <a:pt x="2829636" y="2462810"/>
                </a:lnTo>
                <a:lnTo>
                  <a:pt x="289658" y="2462810"/>
                </a:lnTo>
                <a:lnTo>
                  <a:pt x="266363" y="2431660"/>
                </a:lnTo>
                <a:cubicBezTo>
                  <a:pt x="98195" y="2182739"/>
                  <a:pt x="0" y="1882660"/>
                  <a:pt x="0" y="1559647"/>
                </a:cubicBezTo>
                <a:cubicBezTo>
                  <a:pt x="0" y="698278"/>
                  <a:pt x="698278" y="0"/>
                  <a:pt x="1559647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B8D3F45B-B631-47D3-A33C-71CEC2B3602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2905" y="4018982"/>
            <a:ext cx="3854161" cy="2839018"/>
          </a:xfrm>
          <a:custGeom>
            <a:avLst/>
            <a:gdLst>
              <a:gd name="connsiteX0" fmla="*/ 1927061 w 3854161"/>
              <a:gd name="connsiteY0" fmla="*/ 0 h 2839018"/>
              <a:gd name="connsiteX1" fmla="*/ 1927101 w 3854161"/>
              <a:gd name="connsiteY1" fmla="*/ 0 h 2839018"/>
              <a:gd name="connsiteX2" fmla="*/ 2124114 w 3854161"/>
              <a:gd name="connsiteY2" fmla="*/ 9948 h 2839018"/>
              <a:gd name="connsiteX3" fmla="*/ 3854161 w 3854161"/>
              <a:gd name="connsiteY3" fmla="*/ 1927080 h 2839018"/>
              <a:gd name="connsiteX4" fmla="*/ 3702722 w 3854161"/>
              <a:gd name="connsiteY4" fmla="*/ 2677187 h 2839018"/>
              <a:gd name="connsiteX5" fmla="*/ 3624763 w 3854161"/>
              <a:gd name="connsiteY5" fmla="*/ 2839018 h 2839018"/>
              <a:gd name="connsiteX6" fmla="*/ 229398 w 3854161"/>
              <a:gd name="connsiteY6" fmla="*/ 2839018 h 2839018"/>
              <a:gd name="connsiteX7" fmla="*/ 151440 w 3854161"/>
              <a:gd name="connsiteY7" fmla="*/ 2677187 h 2839018"/>
              <a:gd name="connsiteX8" fmla="*/ 0 w 3854161"/>
              <a:gd name="connsiteY8" fmla="*/ 1927080 h 2839018"/>
              <a:gd name="connsiteX9" fmla="*/ 1730048 w 3854161"/>
              <a:gd name="connsiteY9" fmla="*/ 9948 h 283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54161" h="2839018">
                <a:moveTo>
                  <a:pt x="1927061" y="0"/>
                </a:moveTo>
                <a:lnTo>
                  <a:pt x="1927101" y="0"/>
                </a:lnTo>
                <a:lnTo>
                  <a:pt x="2124114" y="9948"/>
                </a:lnTo>
                <a:cubicBezTo>
                  <a:pt x="3095856" y="108634"/>
                  <a:pt x="3854161" y="929301"/>
                  <a:pt x="3854161" y="1927080"/>
                </a:cubicBezTo>
                <a:cubicBezTo>
                  <a:pt x="3854161" y="2193154"/>
                  <a:pt x="3800237" y="2446634"/>
                  <a:pt x="3702722" y="2677187"/>
                </a:cubicBezTo>
                <a:lnTo>
                  <a:pt x="3624763" y="2839018"/>
                </a:lnTo>
                <a:lnTo>
                  <a:pt x="229398" y="2839018"/>
                </a:lnTo>
                <a:lnTo>
                  <a:pt x="151440" y="2677187"/>
                </a:lnTo>
                <a:cubicBezTo>
                  <a:pt x="53924" y="2446634"/>
                  <a:pt x="0" y="2193154"/>
                  <a:pt x="0" y="1927080"/>
                </a:cubicBezTo>
                <a:cubicBezTo>
                  <a:pt x="0" y="929301"/>
                  <a:pt x="758305" y="108634"/>
                  <a:pt x="1730048" y="9948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0" y="585216"/>
            <a:ext cx="5276088" cy="2276856"/>
          </a:xfrm>
        </p:spPr>
        <p:txBody>
          <a:bodyPr anchor="b"/>
          <a:lstStyle>
            <a:lvl1pPr algn="r">
              <a:defRPr sz="4800" b="1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548640" y="1938528"/>
            <a:ext cx="278892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Graphic 32">
            <a:extLst>
              <a:ext uri="{FF2B5EF4-FFF2-40B4-BE49-F238E27FC236}">
                <a16:creationId xmlns:a16="http://schemas.microsoft.com/office/drawing/2014/main" id="{846CD0EA-B0AA-4845-81A5-4ADD7C58B12F}"/>
              </a:ext>
            </a:extLst>
          </p:cNvPr>
          <p:cNvSpPr/>
          <p:nvPr userDrawn="1"/>
        </p:nvSpPr>
        <p:spPr>
          <a:xfrm>
            <a:off x="1472366" y="1859534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0E97A0CB-7CB1-47F0-BD48-EEECBAC39CD2}"/>
              </a:ext>
            </a:extLst>
          </p:cNvPr>
          <p:cNvSpPr/>
          <p:nvPr userDrawn="1"/>
        </p:nvSpPr>
        <p:spPr>
          <a:xfrm>
            <a:off x="2014523" y="3146867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Graphic 31">
            <a:extLst>
              <a:ext uri="{FF2B5EF4-FFF2-40B4-BE49-F238E27FC236}">
                <a16:creationId xmlns:a16="http://schemas.microsoft.com/office/drawing/2014/main" id="{477816C9-06CB-4BC5-B26B-6A2877BD941A}"/>
              </a:ext>
            </a:extLst>
          </p:cNvPr>
          <p:cNvSpPr/>
          <p:nvPr userDrawn="1"/>
        </p:nvSpPr>
        <p:spPr>
          <a:xfrm>
            <a:off x="5404920" y="450829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0" y="3127248"/>
            <a:ext cx="5276088" cy="1124712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1045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805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775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8" r:id="rId2"/>
    <p:sldLayoutId id="2147483717" r:id="rId3"/>
    <p:sldLayoutId id="2147483710" r:id="rId4"/>
    <p:sldLayoutId id="2147483709" r:id="rId5"/>
    <p:sldLayoutId id="2147483698" r:id="rId6"/>
    <p:sldLayoutId id="2147483713" r:id="rId7"/>
    <p:sldLayoutId id="2147483712" r:id="rId8"/>
    <p:sldLayoutId id="2147483700" r:id="rId9"/>
    <p:sldLayoutId id="2147483701" r:id="rId10"/>
    <p:sldLayoutId id="2147483716" r:id="rId11"/>
    <p:sldLayoutId id="2147483714" r:id="rId12"/>
    <p:sldLayoutId id="2147483715" r:id="rId13"/>
    <p:sldLayoutId id="2147483702" r:id="rId14"/>
    <p:sldLayoutId id="2147483703" r:id="rId15"/>
    <p:sldLayoutId id="2147483704" r:id="rId16"/>
    <p:sldLayoutId id="2147483705" r:id="rId1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8447" y="594360"/>
            <a:ext cx="6800524" cy="2843784"/>
          </a:xfrm>
        </p:spPr>
        <p:txBody>
          <a:bodyPr>
            <a:normAutofit fontScale="90000"/>
          </a:bodyPr>
          <a:lstStyle/>
          <a:p>
            <a:r>
              <a:rPr lang="en-US" sz="5400" spc="400" dirty="0">
                <a:solidFill>
                  <a:schemeClr val="bg1"/>
                </a:solidFill>
              </a:rPr>
              <a:t>New SCT</a:t>
            </a:r>
            <a:br>
              <a:rPr lang="en-US" sz="5400" spc="400" dirty="0">
                <a:solidFill>
                  <a:schemeClr val="bg1"/>
                </a:solidFill>
              </a:rPr>
            </a:br>
            <a:r>
              <a:rPr lang="en-US" sz="5400" spc="400" dirty="0">
                <a:solidFill>
                  <a:schemeClr val="bg1"/>
                </a:solidFill>
              </a:rPr>
              <a:t>status updates</a:t>
            </a:r>
            <a:br>
              <a:rPr lang="en-US" sz="5400" spc="400" dirty="0">
                <a:solidFill>
                  <a:schemeClr val="bg1"/>
                </a:solidFill>
              </a:rPr>
            </a:br>
            <a:r>
              <a:rPr lang="en-US" sz="5400" spc="400" dirty="0">
                <a:solidFill>
                  <a:schemeClr val="bg1"/>
                </a:solidFill>
              </a:rPr>
              <a:t>v1.6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14073-9F68-4B7E-A576-26899D58C7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>
                <a:solidFill>
                  <a:schemeClr val="bg1"/>
                </a:solidFill>
              </a:rPr>
              <a:t>Giorgio Parma</a:t>
            </a:r>
          </a:p>
          <a:p>
            <a:r>
              <a:rPr lang="en-US" dirty="0"/>
              <a:t>22/11/2023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5" name="Graphic 4" descr="Rocket with solid fill">
            <a:extLst>
              <a:ext uri="{FF2B5EF4-FFF2-40B4-BE49-F238E27FC236}">
                <a16:creationId xmlns:a16="http://schemas.microsoft.com/office/drawing/2014/main" id="{5069A5C3-63A2-EAFE-9CC3-2DD09FD66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5985" y="3514153"/>
            <a:ext cx="23717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High Level Software Architecture</a:t>
            </a:r>
          </a:p>
        </p:txBody>
      </p:sp>
      <p:pic>
        <p:nvPicPr>
          <p:cNvPr id="15" name="Picture 14" descr="A logo of a butterfly&#10;&#10;Description automatically generated">
            <a:extLst>
              <a:ext uri="{FF2B5EF4-FFF2-40B4-BE49-F238E27FC236}">
                <a16:creationId xmlns:a16="http://schemas.microsoft.com/office/drawing/2014/main" id="{A833A47E-76D3-4E0A-D2E3-E1F777CB4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669" y="1596964"/>
            <a:ext cx="517795" cy="55047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7704719-E098-84ED-495F-4AC68681C31B}"/>
              </a:ext>
            </a:extLst>
          </p:cNvPr>
          <p:cNvSpPr txBox="1"/>
          <p:nvPr/>
        </p:nvSpPr>
        <p:spPr>
          <a:xfrm>
            <a:off x="2127386" y="1796898"/>
            <a:ext cx="250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Arepytools</a:t>
            </a:r>
            <a:r>
              <a:rPr lang="en-US" dirty="0"/>
              <a:t> (&gt;v1.6.0)</a:t>
            </a:r>
          </a:p>
        </p:txBody>
      </p:sp>
      <p:pic>
        <p:nvPicPr>
          <p:cNvPr id="34" name="Picture 33" descr="A blue and yellow snake&#10;&#10;Description automatically generated">
            <a:extLst>
              <a:ext uri="{FF2B5EF4-FFF2-40B4-BE49-F238E27FC236}">
                <a16:creationId xmlns:a16="http://schemas.microsoft.com/office/drawing/2014/main" id="{DA5A5463-6F60-C3FD-CBC5-B62799070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952" y="2423580"/>
            <a:ext cx="328043" cy="328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1BBD5BE-131B-183D-211D-88ABCB22A40E}"/>
              </a:ext>
            </a:extLst>
          </p:cNvPr>
          <p:cNvSpPr txBox="1"/>
          <p:nvPr/>
        </p:nvSpPr>
        <p:spPr>
          <a:xfrm>
            <a:off x="2127385" y="2402435"/>
            <a:ext cx="250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Arepyextras</a:t>
            </a:r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F387E4-704F-6F6F-050B-D45DBDAC097C}"/>
              </a:ext>
            </a:extLst>
          </p:cNvPr>
          <p:cNvSpPr txBox="1"/>
          <p:nvPr/>
        </p:nvSpPr>
        <p:spPr>
          <a:xfrm>
            <a:off x="2317108" y="2823306"/>
            <a:ext cx="2290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Perturbations (1.1.0)</a:t>
            </a:r>
            <a:endParaRPr lang="en-US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574380-3E44-80EB-2508-26CF41103F07}"/>
              </a:ext>
            </a:extLst>
          </p:cNvPr>
          <p:cNvSpPr txBox="1"/>
          <p:nvPr/>
        </p:nvSpPr>
        <p:spPr>
          <a:xfrm>
            <a:off x="2317107" y="3213399"/>
            <a:ext cx="24011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iers_solid_tides</a:t>
            </a:r>
            <a:r>
              <a:rPr lang="en-US" sz="1600" b="1" dirty="0"/>
              <a:t> (1.0.0)</a:t>
            </a:r>
            <a:endParaRPr lang="en-US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10EFB5-3250-5A01-F4BA-F66EE04C70AE}"/>
              </a:ext>
            </a:extLst>
          </p:cNvPr>
          <p:cNvSpPr txBox="1"/>
          <p:nvPr/>
        </p:nvSpPr>
        <p:spPr>
          <a:xfrm>
            <a:off x="2317106" y="3600164"/>
            <a:ext cx="15737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quality (1.1.0)</a:t>
            </a:r>
            <a:endParaRPr lang="en-US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B477BD-6151-C657-78A3-76EC6548B356}"/>
              </a:ext>
            </a:extLst>
          </p:cNvPr>
          <p:cNvSpPr txBox="1"/>
          <p:nvPr/>
        </p:nvSpPr>
        <p:spPr>
          <a:xfrm>
            <a:off x="2317107" y="3986929"/>
            <a:ext cx="2122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eo_products</a:t>
            </a:r>
            <a:r>
              <a:rPr lang="en-US" sz="1600" b="1" dirty="0"/>
              <a:t> (1.0.0)</a:t>
            </a:r>
            <a:endParaRPr lang="en-US" sz="1600" i="1" dirty="0">
              <a:solidFill>
                <a:srgbClr val="FF0000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CF4B97-B53C-F716-B7C3-3BEA0023BE13}"/>
              </a:ext>
            </a:extLst>
          </p:cNvPr>
          <p:cNvSpPr/>
          <p:nvPr/>
        </p:nvSpPr>
        <p:spPr>
          <a:xfrm>
            <a:off x="951722" y="1539548"/>
            <a:ext cx="3766549" cy="2985796"/>
          </a:xfrm>
          <a:prstGeom prst="rect">
            <a:avLst/>
          </a:prstGeom>
          <a:noFill/>
          <a:ln w="28575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77C05F-57E9-C77C-820C-E8C25133F33C}"/>
              </a:ext>
            </a:extLst>
          </p:cNvPr>
          <p:cNvSpPr/>
          <p:nvPr/>
        </p:nvSpPr>
        <p:spPr>
          <a:xfrm>
            <a:off x="5069635" y="1338361"/>
            <a:ext cx="6858205" cy="4791848"/>
          </a:xfrm>
          <a:prstGeom prst="rect">
            <a:avLst/>
          </a:prstGeom>
          <a:noFill/>
          <a:ln w="2857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A black cat in a circle&#10;&#10;Description automatically generated">
            <a:extLst>
              <a:ext uri="{FF2B5EF4-FFF2-40B4-BE49-F238E27FC236}">
                <a16:creationId xmlns:a16="http://schemas.microsoft.com/office/drawing/2014/main" id="{B2FFCD0B-4706-792A-449A-45F4AD42B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289" y="1426296"/>
            <a:ext cx="609610" cy="609610"/>
          </a:xfrm>
          <a:prstGeom prst="rect">
            <a:avLst/>
          </a:prstGeom>
        </p:spPr>
      </p:pic>
      <p:pic>
        <p:nvPicPr>
          <p:cNvPr id="61" name="Picture 60" descr="A blue and black logo&#10;&#10;Description automatically generated">
            <a:extLst>
              <a:ext uri="{FF2B5EF4-FFF2-40B4-BE49-F238E27FC236}">
                <a16:creationId xmlns:a16="http://schemas.microsoft.com/office/drawing/2014/main" id="{E47FC75C-9834-C3F7-936C-1A0E454A7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5289" y="2105882"/>
            <a:ext cx="593106" cy="593106"/>
          </a:xfrm>
          <a:prstGeom prst="rect">
            <a:avLst/>
          </a:prstGeom>
        </p:spPr>
      </p:pic>
      <p:pic>
        <p:nvPicPr>
          <p:cNvPr id="63" name="Picture 62" descr="A logo of a fox&#10;&#10;Description automatically generated">
            <a:extLst>
              <a:ext uri="{FF2B5EF4-FFF2-40B4-BE49-F238E27FC236}">
                <a16:creationId xmlns:a16="http://schemas.microsoft.com/office/drawing/2014/main" id="{3772EFCE-745A-70CF-5B8C-44F239C3F9A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9732" t="23648" r="18379" b="20407"/>
          <a:stretch/>
        </p:blipFill>
        <p:spPr>
          <a:xfrm>
            <a:off x="965787" y="2169033"/>
            <a:ext cx="589560" cy="532923"/>
          </a:xfrm>
          <a:prstGeom prst="rect">
            <a:avLst/>
          </a:prstGeom>
        </p:spPr>
      </p:pic>
      <p:sp>
        <p:nvSpPr>
          <p:cNvPr id="64" name="Rectangle: Diagonal Corners Snipped 63">
            <a:extLst>
              <a:ext uri="{FF2B5EF4-FFF2-40B4-BE49-F238E27FC236}">
                <a16:creationId xmlns:a16="http://schemas.microsoft.com/office/drawing/2014/main" id="{14558CF9-DAA8-5B94-EEA8-7D9309E9F4E5}"/>
              </a:ext>
            </a:extLst>
          </p:cNvPr>
          <p:cNvSpPr/>
          <p:nvPr/>
        </p:nvSpPr>
        <p:spPr>
          <a:xfrm>
            <a:off x="7347858" y="2709065"/>
            <a:ext cx="3004451" cy="646761"/>
          </a:xfrm>
          <a:prstGeom prst="snip2Diag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8E1650-1C57-EF4E-4FF6-1AA7CEDDBB11}"/>
              </a:ext>
            </a:extLst>
          </p:cNvPr>
          <p:cNvSpPr txBox="1"/>
          <p:nvPr/>
        </p:nvSpPr>
        <p:spPr>
          <a:xfrm>
            <a:off x="7473827" y="2863168"/>
            <a:ext cx="30044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Core algorithms and tools</a:t>
            </a:r>
            <a:endParaRPr lang="en-US" sz="1600" dirty="0"/>
          </a:p>
        </p:txBody>
      </p:sp>
      <p:pic>
        <p:nvPicPr>
          <p:cNvPr id="73" name="Graphic 72" descr="Lightbulb and gear with solid fill">
            <a:extLst>
              <a:ext uri="{FF2B5EF4-FFF2-40B4-BE49-F238E27FC236}">
                <a16:creationId xmlns:a16="http://schemas.microsoft.com/office/drawing/2014/main" id="{EFEDEE68-BF8B-2C3E-B3B5-7BB03B8F9E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114217">
            <a:off x="6714769" y="2706799"/>
            <a:ext cx="560830" cy="560830"/>
          </a:xfrm>
          <a:prstGeom prst="rect">
            <a:avLst/>
          </a:prstGeom>
        </p:spPr>
      </p:pic>
      <p:sp>
        <p:nvSpPr>
          <p:cNvPr id="74" name="Rectangle: Diagonal Corners Snipped 73">
            <a:extLst>
              <a:ext uri="{FF2B5EF4-FFF2-40B4-BE49-F238E27FC236}">
                <a16:creationId xmlns:a16="http://schemas.microsoft.com/office/drawing/2014/main" id="{AF59C42B-1500-0D16-8D1A-4BA4301FA241}"/>
              </a:ext>
            </a:extLst>
          </p:cNvPr>
          <p:cNvSpPr/>
          <p:nvPr/>
        </p:nvSpPr>
        <p:spPr>
          <a:xfrm>
            <a:off x="5233641" y="4394715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654506A-FB91-1B7F-00EC-2A87ECE5CACF}"/>
              </a:ext>
            </a:extLst>
          </p:cNvPr>
          <p:cNvSpPr txBox="1"/>
          <p:nvPr/>
        </p:nvSpPr>
        <p:spPr>
          <a:xfrm>
            <a:off x="5371296" y="4422708"/>
            <a:ext cx="15488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Product format auto-detection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2E57DB4-25F4-0241-A3EB-D2C26DFA79E9}"/>
              </a:ext>
            </a:extLst>
          </p:cNvPr>
          <p:cNvSpPr txBox="1"/>
          <p:nvPr/>
        </p:nvSpPr>
        <p:spPr>
          <a:xfrm>
            <a:off x="5252386" y="4991036"/>
            <a:ext cx="175407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multi-mission input</a:t>
            </a:r>
          </a:p>
          <a:p>
            <a:r>
              <a:rPr lang="en-US" sz="1100" dirty="0"/>
              <a:t>- external orbit</a:t>
            </a:r>
          </a:p>
          <a:p>
            <a:r>
              <a:rPr lang="en-US" sz="1100" dirty="0"/>
              <a:t>- conversion to protocol-compliant object</a:t>
            </a:r>
          </a:p>
        </p:txBody>
      </p:sp>
      <p:sp>
        <p:nvSpPr>
          <p:cNvPr id="78" name="Rectangle: Diagonal Corners Snipped 77">
            <a:extLst>
              <a:ext uri="{FF2B5EF4-FFF2-40B4-BE49-F238E27FC236}">
                <a16:creationId xmlns:a16="http://schemas.microsoft.com/office/drawing/2014/main" id="{032C1326-C1B4-A2A7-EBD5-75685EC806CA}"/>
              </a:ext>
            </a:extLst>
          </p:cNvPr>
          <p:cNvSpPr/>
          <p:nvPr/>
        </p:nvSpPr>
        <p:spPr>
          <a:xfrm>
            <a:off x="7004901" y="4398589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FD9ACC-40FE-6F20-CB0D-0B9F7EF8810D}"/>
              </a:ext>
            </a:extLst>
          </p:cNvPr>
          <p:cNvSpPr txBox="1"/>
          <p:nvPr/>
        </p:nvSpPr>
        <p:spPr>
          <a:xfrm>
            <a:off x="7142556" y="4426582"/>
            <a:ext cx="13179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Analysis type auto-detection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C25DE7-1BB1-F4C3-8252-46F2243212DD}"/>
              </a:ext>
            </a:extLst>
          </p:cNvPr>
          <p:cNvSpPr txBox="1"/>
          <p:nvPr/>
        </p:nvSpPr>
        <p:spPr>
          <a:xfrm>
            <a:off x="7004901" y="4991036"/>
            <a:ext cx="175407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select proper analysis based on inputs</a:t>
            </a:r>
          </a:p>
          <a:p>
            <a:r>
              <a:rPr lang="en-US" sz="1100" dirty="0"/>
              <a:t>- import calibration sites database if needed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A8F7C8D-5115-5878-A921-A537DBC991FE}"/>
              </a:ext>
            </a:extLst>
          </p:cNvPr>
          <p:cNvCxnSpPr>
            <a:cxnSpLocks/>
          </p:cNvCxnSpPr>
          <p:nvPr/>
        </p:nvCxnSpPr>
        <p:spPr>
          <a:xfrm flipV="1">
            <a:off x="6007303" y="3489393"/>
            <a:ext cx="2698158" cy="800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85AFC322-D6B2-D466-7695-3D97047677E8}"/>
              </a:ext>
            </a:extLst>
          </p:cNvPr>
          <p:cNvCxnSpPr>
            <a:cxnSpLocks/>
          </p:cNvCxnSpPr>
          <p:nvPr/>
        </p:nvCxnSpPr>
        <p:spPr>
          <a:xfrm flipV="1">
            <a:off x="7801516" y="3526579"/>
            <a:ext cx="999584" cy="770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Rectangle: Diagonal Corners Snipped 85">
            <a:extLst>
              <a:ext uri="{FF2B5EF4-FFF2-40B4-BE49-F238E27FC236}">
                <a16:creationId xmlns:a16="http://schemas.microsoft.com/office/drawing/2014/main" id="{6F409729-8373-F5BC-417C-A60F85D9150F}"/>
              </a:ext>
            </a:extLst>
          </p:cNvPr>
          <p:cNvSpPr/>
          <p:nvPr/>
        </p:nvSpPr>
        <p:spPr>
          <a:xfrm>
            <a:off x="8717792" y="4401253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BF7AA6-1502-95DC-C447-A3DBCF95BA2B}"/>
              </a:ext>
            </a:extLst>
          </p:cNvPr>
          <p:cNvSpPr txBox="1"/>
          <p:nvPr/>
        </p:nvSpPr>
        <p:spPr>
          <a:xfrm>
            <a:off x="8771422" y="4435544"/>
            <a:ext cx="1487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Apply perturbations and corrections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4294689-1040-73C4-4218-7FA93925B24B}"/>
              </a:ext>
            </a:extLst>
          </p:cNvPr>
          <p:cNvSpPr txBox="1"/>
          <p:nvPr/>
        </p:nvSpPr>
        <p:spPr>
          <a:xfrm>
            <a:off x="8736417" y="4997984"/>
            <a:ext cx="14642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atmospheric and geophysics perturbations</a:t>
            </a:r>
          </a:p>
          <a:p>
            <a:r>
              <a:rPr lang="en-US" sz="1100" dirty="0"/>
              <a:t>- time corrections</a:t>
            </a:r>
          </a:p>
        </p:txBody>
      </p:sp>
      <p:pic>
        <p:nvPicPr>
          <p:cNvPr id="106" name="Graphic 105" descr="Database with solid fill">
            <a:extLst>
              <a:ext uri="{FF2B5EF4-FFF2-40B4-BE49-F238E27FC236}">
                <a16:creationId xmlns:a16="http://schemas.microsoft.com/office/drawing/2014/main" id="{7FBF9089-D067-71C2-DD92-F68938D7C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97811" y="1707504"/>
            <a:ext cx="656804" cy="656804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F8CB0DE3-FCE4-4E42-A36C-2AECE0C49507}"/>
              </a:ext>
            </a:extLst>
          </p:cNvPr>
          <p:cNvSpPr txBox="1"/>
          <p:nvPr/>
        </p:nvSpPr>
        <p:spPr>
          <a:xfrm>
            <a:off x="9669250" y="1686144"/>
            <a:ext cx="1525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Calibration sites DB</a:t>
            </a:r>
          </a:p>
        </p:txBody>
      </p:sp>
      <p:sp>
        <p:nvSpPr>
          <p:cNvPr id="108" name="Rectangle: Diagonal Corners Snipped 107">
            <a:extLst>
              <a:ext uri="{FF2B5EF4-FFF2-40B4-BE49-F238E27FC236}">
                <a16:creationId xmlns:a16="http://schemas.microsoft.com/office/drawing/2014/main" id="{1B45E62D-28AA-5577-5FF7-EEA5E7250390}"/>
              </a:ext>
            </a:extLst>
          </p:cNvPr>
          <p:cNvSpPr/>
          <p:nvPr/>
        </p:nvSpPr>
        <p:spPr>
          <a:xfrm>
            <a:off x="10365303" y="4401253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5B63DA2-1453-3252-DF40-8E61E1882370}"/>
              </a:ext>
            </a:extLst>
          </p:cNvPr>
          <p:cNvSpPr txBox="1"/>
          <p:nvPr/>
        </p:nvSpPr>
        <p:spPr>
          <a:xfrm>
            <a:off x="10502958" y="4429246"/>
            <a:ext cx="12553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Reporting and results storage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D81F7EE-861D-D668-A22C-E8A87A9C339F}"/>
              </a:ext>
            </a:extLst>
          </p:cNvPr>
          <p:cNvSpPr txBox="1"/>
          <p:nvPr/>
        </p:nvSpPr>
        <p:spPr>
          <a:xfrm>
            <a:off x="10360984" y="4997984"/>
            <a:ext cx="14642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notebook report</a:t>
            </a:r>
          </a:p>
          <a:p>
            <a:r>
              <a:rPr lang="en-US" sz="1100" dirty="0"/>
              <a:t>- interactive plots</a:t>
            </a:r>
          </a:p>
          <a:p>
            <a:r>
              <a:rPr lang="en-US" sz="1100" dirty="0"/>
              <a:t>- results storage in DB-like format</a:t>
            </a: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D65A512-7193-052F-D492-CF7C79B2B725}"/>
              </a:ext>
            </a:extLst>
          </p:cNvPr>
          <p:cNvCxnSpPr>
            <a:cxnSpLocks/>
          </p:cNvCxnSpPr>
          <p:nvPr/>
        </p:nvCxnSpPr>
        <p:spPr>
          <a:xfrm>
            <a:off x="8886825" y="3518156"/>
            <a:ext cx="558755" cy="7785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C75C9AC2-E7D6-0FB4-E0E8-21BE038C90B6}"/>
              </a:ext>
            </a:extLst>
          </p:cNvPr>
          <p:cNvCxnSpPr/>
          <p:nvPr/>
        </p:nvCxnSpPr>
        <p:spPr>
          <a:xfrm>
            <a:off x="9022080" y="3526579"/>
            <a:ext cx="1991360" cy="76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6" name="Graphic 125" descr="Download from cloud with solid fill">
            <a:extLst>
              <a:ext uri="{FF2B5EF4-FFF2-40B4-BE49-F238E27FC236}">
                <a16:creationId xmlns:a16="http://schemas.microsoft.com/office/drawing/2014/main" id="{1C5EA28D-7450-5F7A-48F0-2E5A4E15E7C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47296" y="1753288"/>
            <a:ext cx="610257" cy="610257"/>
          </a:xfrm>
          <a:prstGeom prst="rect">
            <a:avLst/>
          </a:prstGeom>
        </p:spPr>
      </p:pic>
      <p:pic>
        <p:nvPicPr>
          <p:cNvPr id="127" name="Picture 126" descr="A blue and yellow snake&#10;&#10;Description automatically generated">
            <a:extLst>
              <a:ext uri="{FF2B5EF4-FFF2-40B4-BE49-F238E27FC236}">
                <a16:creationId xmlns:a16="http://schemas.microsoft.com/office/drawing/2014/main" id="{8928934B-3012-55D5-5DBF-DC287F50A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952" y="1830949"/>
            <a:ext cx="328043" cy="328043"/>
          </a:xfrm>
          <a:prstGeom prst="rect">
            <a:avLst/>
          </a:prstGeom>
        </p:spPr>
      </p:pic>
      <p:sp>
        <p:nvSpPr>
          <p:cNvPr id="128" name="TextBox 127">
            <a:extLst>
              <a:ext uri="{FF2B5EF4-FFF2-40B4-BE49-F238E27FC236}">
                <a16:creationId xmlns:a16="http://schemas.microsoft.com/office/drawing/2014/main" id="{D66B21AF-C46D-5EED-D06D-21F566DCCF27}"/>
              </a:ext>
            </a:extLst>
          </p:cNvPr>
          <p:cNvSpPr txBox="1"/>
          <p:nvPr/>
        </p:nvSpPr>
        <p:spPr>
          <a:xfrm>
            <a:off x="6875613" y="1724856"/>
            <a:ext cx="1907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Perturbations data download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F210624B-143D-1B33-C367-20085B1E7979}"/>
              </a:ext>
            </a:extLst>
          </p:cNvPr>
          <p:cNvCxnSpPr>
            <a:cxnSpLocks/>
            <a:stCxn id="128" idx="2"/>
          </p:cNvCxnSpPr>
          <p:nvPr/>
        </p:nvCxnSpPr>
        <p:spPr>
          <a:xfrm>
            <a:off x="7829293" y="2371187"/>
            <a:ext cx="860239" cy="23993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54B2634-7002-250B-E7F8-23A0B41569EB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8936255" y="2332475"/>
            <a:ext cx="1495793" cy="26244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B0DF5F6-0EFA-E6FA-A7B5-357483CAA52D}"/>
              </a:ext>
            </a:extLst>
          </p:cNvPr>
          <p:cNvSpPr txBox="1"/>
          <p:nvPr/>
        </p:nvSpPr>
        <p:spPr>
          <a:xfrm>
            <a:off x="1777286" y="4664113"/>
            <a:ext cx="21288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Private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3E728C-38E0-F034-690B-4056B8939053}"/>
              </a:ext>
            </a:extLst>
          </p:cNvPr>
          <p:cNvSpPr txBox="1"/>
          <p:nvPr/>
        </p:nvSpPr>
        <p:spPr>
          <a:xfrm>
            <a:off x="6777562" y="6262245"/>
            <a:ext cx="34423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Open-Source Side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E176E6-80E7-27BA-ED17-48C7E519C27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55254" y="2782103"/>
            <a:ext cx="583141" cy="583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766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High Level Software Architecture</a:t>
            </a:r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001E4E7F-4348-61B3-B7BD-E86D50112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776" y="1163773"/>
            <a:ext cx="9460043" cy="5426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550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High Level Software Architecture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976771D9-03E5-7D30-F876-02E631D0C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572" y="1107485"/>
            <a:ext cx="5058856" cy="5464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31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200" dirty="0"/>
              <a:t>High Level Software Architecture - </a:t>
            </a:r>
            <a:r>
              <a:rPr lang="en-US" sz="3200" dirty="0" err="1"/>
              <a:t>Arepyextras</a:t>
            </a:r>
            <a:endParaRPr lang="en-US" sz="3200" dirty="0"/>
          </a:p>
        </p:txBody>
      </p:sp>
      <p:pic>
        <p:nvPicPr>
          <p:cNvPr id="4" name="Picture 3" descr="A screenshot of a diagram&#10;&#10;Description automatically generated">
            <a:extLst>
              <a:ext uri="{FF2B5EF4-FFF2-40B4-BE49-F238E27FC236}">
                <a16:creationId xmlns:a16="http://schemas.microsoft.com/office/drawing/2014/main" id="{232D7DD6-3522-C987-C816-162443DA3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176" y="1108406"/>
            <a:ext cx="10432212" cy="553235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C7969-F2A6-6C45-A463-E0F3A96C75E0}"/>
              </a:ext>
            </a:extLst>
          </p:cNvPr>
          <p:cNvSpPr/>
          <p:nvPr/>
        </p:nvSpPr>
        <p:spPr>
          <a:xfrm>
            <a:off x="1414732" y="1639019"/>
            <a:ext cx="9601200" cy="2562045"/>
          </a:xfrm>
          <a:prstGeom prst="rect">
            <a:avLst/>
          </a:prstGeom>
          <a:noFill/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2BDB1F-4187-F1C0-0940-A1D477F1441D}"/>
              </a:ext>
            </a:extLst>
          </p:cNvPr>
          <p:cNvSpPr txBox="1"/>
          <p:nvPr/>
        </p:nvSpPr>
        <p:spPr>
          <a:xfrm>
            <a:off x="8902460" y="1269687"/>
            <a:ext cx="2717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SCT Dependencies</a:t>
            </a:r>
          </a:p>
        </p:txBody>
      </p:sp>
    </p:spTree>
    <p:extLst>
      <p:ext uri="{BB962C8B-B14F-4D97-AF65-F5344CB8AC3E}">
        <p14:creationId xmlns:p14="http://schemas.microsoft.com/office/powerpoint/2010/main" val="1254159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Supported Missions and Products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EDF3748-FF46-3998-DDA4-FDF9C148D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2816723"/>
              </p:ext>
            </p:extLst>
          </p:nvPr>
        </p:nvGraphicFramePr>
        <p:xfrm>
          <a:off x="996276" y="1075715"/>
          <a:ext cx="10199448" cy="492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485">
                  <a:extLst>
                    <a:ext uri="{9D8B030D-6E8A-4147-A177-3AD203B41FA5}">
                      <a16:colId xmlns:a16="http://schemas.microsoft.com/office/drawing/2014/main" val="1498214684"/>
                    </a:ext>
                  </a:extLst>
                </a:gridCol>
                <a:gridCol w="3230881">
                  <a:extLst>
                    <a:ext uri="{9D8B030D-6E8A-4147-A177-3AD203B41FA5}">
                      <a16:colId xmlns:a16="http://schemas.microsoft.com/office/drawing/2014/main" val="2269859059"/>
                    </a:ext>
                  </a:extLst>
                </a:gridCol>
                <a:gridCol w="2090570">
                  <a:extLst>
                    <a:ext uri="{9D8B030D-6E8A-4147-A177-3AD203B41FA5}">
                      <a16:colId xmlns:a16="http://schemas.microsoft.com/office/drawing/2014/main" val="3925662890"/>
                    </a:ext>
                  </a:extLst>
                </a:gridCol>
                <a:gridCol w="1357512">
                  <a:extLst>
                    <a:ext uri="{9D8B030D-6E8A-4147-A177-3AD203B41FA5}">
                      <a16:colId xmlns:a16="http://schemas.microsoft.com/office/drawing/2014/main" val="690418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Product/Mission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Code 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9078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Aresys</a:t>
                      </a:r>
                      <a:r>
                        <a:rPr lang="en-US" dirty="0"/>
                        <a:t> Product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r>
                        <a:rPr lang="en-US" dirty="0"/>
                        <a:t>/Python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DONE</a:t>
                      </a:r>
                      <a:endParaRPr lang="en-US" sz="18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01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Sentinel-1 SAFE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DONE</a:t>
                      </a:r>
                      <a:endParaRPr lang="en-US" sz="18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87020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RISAT-1A (US4)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F0"/>
                          </a:solidFill>
                        </a:rPr>
                        <a:t>ONGOING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980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NOVASAR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20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4712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SAOCOM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F0"/>
                          </a:solidFill>
                        </a:rPr>
                        <a:t>ONGOING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721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ICEYE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82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PAZ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417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TERRASAR-X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005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COSMO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13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RADARSAT-2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3785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ROSE-L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6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KOMPSAT-5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031082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D384C47-A372-2801-7263-88C665037276}"/>
              </a:ext>
            </a:extLst>
          </p:cNvPr>
          <p:cNvSpPr txBox="1"/>
          <p:nvPr/>
        </p:nvSpPr>
        <p:spPr>
          <a:xfrm>
            <a:off x="10645217" y="5974448"/>
            <a:ext cx="11010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EDAP</a:t>
            </a:r>
          </a:p>
          <a:p>
            <a:r>
              <a:rPr lang="en-US" sz="1400" dirty="0">
                <a:solidFill>
                  <a:srgbClr val="002060"/>
                </a:solidFill>
              </a:rPr>
              <a:t>MPC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A243906-A7AF-683A-9858-871BD8DB5D31}"/>
              </a:ext>
            </a:extLst>
          </p:cNvPr>
          <p:cNvCxnSpPr/>
          <p:nvPr/>
        </p:nvCxnSpPr>
        <p:spPr>
          <a:xfrm>
            <a:off x="379562" y="3743865"/>
            <a:ext cx="11366668" cy="0"/>
          </a:xfrm>
          <a:prstGeom prst="line">
            <a:avLst/>
          </a:prstGeom>
          <a:ln w="38100">
            <a:prstDash val="dash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7A00223-C715-35FE-E25F-9F921A2C1E44}"/>
              </a:ext>
            </a:extLst>
          </p:cNvPr>
          <p:cNvSpPr txBox="1"/>
          <p:nvPr/>
        </p:nvSpPr>
        <p:spPr>
          <a:xfrm>
            <a:off x="10670779" y="3466866"/>
            <a:ext cx="1141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April Release</a:t>
            </a:r>
          </a:p>
        </p:txBody>
      </p:sp>
    </p:spTree>
    <p:extLst>
      <p:ext uri="{BB962C8B-B14F-4D97-AF65-F5344CB8AC3E}">
        <p14:creationId xmlns:p14="http://schemas.microsoft.com/office/powerpoint/2010/main" val="2010019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OPEN POINTS (ESA)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52E019A-123B-AF6D-4564-51E402891A7D}"/>
              </a:ext>
            </a:extLst>
          </p:cNvPr>
          <p:cNvSpPr txBox="1">
            <a:spLocks/>
          </p:cNvSpPr>
          <p:nvPr/>
        </p:nvSpPr>
        <p:spPr>
          <a:xfrm>
            <a:off x="838200" y="2940910"/>
            <a:ext cx="10515600" cy="6052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OPEN POINTS (Internal)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997F64-401B-1EBC-3535-A6533B1E43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676654"/>
              </p:ext>
            </p:extLst>
          </p:nvPr>
        </p:nvGraphicFramePr>
        <p:xfrm>
          <a:off x="1120563" y="970384"/>
          <a:ext cx="9670932" cy="183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3644">
                  <a:extLst>
                    <a:ext uri="{9D8B030D-6E8A-4147-A177-3AD203B41FA5}">
                      <a16:colId xmlns:a16="http://schemas.microsoft.com/office/drawing/2014/main" val="2788006904"/>
                    </a:ext>
                  </a:extLst>
                </a:gridCol>
                <a:gridCol w="3223644">
                  <a:extLst>
                    <a:ext uri="{9D8B030D-6E8A-4147-A177-3AD203B41FA5}">
                      <a16:colId xmlns:a16="http://schemas.microsoft.com/office/drawing/2014/main" val="4063229635"/>
                    </a:ext>
                  </a:extLst>
                </a:gridCol>
                <a:gridCol w="3223644">
                  <a:extLst>
                    <a:ext uri="{9D8B030D-6E8A-4147-A177-3AD203B41FA5}">
                      <a16:colId xmlns:a16="http://schemas.microsoft.com/office/drawing/2014/main" val="40731283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Possible Solutions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181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Change IERS Solid Tides Fortran code management (deploy issue)</a:t>
                      </a:r>
                    </a:p>
                    <a:p>
                      <a:pPr algn="l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- </a:t>
                      </a:r>
                      <a:r>
                        <a:rPr lang="en-US" sz="1400" dirty="0" err="1"/>
                        <a:t>build_ci_tools</a:t>
                      </a:r>
                      <a:r>
                        <a:rPr lang="en-US" sz="1400" dirty="0"/>
                        <a:t>: multiple wheels platform dependent</a:t>
                      </a:r>
                    </a:p>
                    <a:p>
                      <a:pPr algn="l"/>
                      <a:r>
                        <a:rPr lang="en-US" sz="1400" dirty="0"/>
                        <a:t>- wheel compiled on target machine</a:t>
                      </a:r>
                    </a:p>
                    <a:p>
                      <a:pPr algn="l"/>
                      <a:r>
                        <a:rPr lang="en-US" sz="1400" dirty="0"/>
                        <a:t>- microservice?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50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Add configuration settings to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Save same input configuration to output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546513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4D2F76D-E5F4-A42C-83C3-277B7EFBB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445901"/>
              </p:ext>
            </p:extLst>
          </p:nvPr>
        </p:nvGraphicFramePr>
        <p:xfrm>
          <a:off x="1120563" y="3612515"/>
          <a:ext cx="9670932" cy="2880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223644">
                  <a:extLst>
                    <a:ext uri="{9D8B030D-6E8A-4147-A177-3AD203B41FA5}">
                      <a16:colId xmlns:a16="http://schemas.microsoft.com/office/drawing/2014/main" val="2788006904"/>
                    </a:ext>
                  </a:extLst>
                </a:gridCol>
                <a:gridCol w="3223644">
                  <a:extLst>
                    <a:ext uri="{9D8B030D-6E8A-4147-A177-3AD203B41FA5}">
                      <a16:colId xmlns:a16="http://schemas.microsoft.com/office/drawing/2014/main" val="4063229635"/>
                    </a:ext>
                  </a:extLst>
                </a:gridCol>
                <a:gridCol w="3223644">
                  <a:extLst>
                    <a:ext uri="{9D8B030D-6E8A-4147-A177-3AD203B41FA5}">
                      <a16:colId xmlns:a16="http://schemas.microsoft.com/office/drawing/2014/main" val="40731283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Possible Solutions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181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Internal Docker for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Docker container with volume mounted from server where data persist?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50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Integrate RCS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Integrate existing scripts?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83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Interferometry: implement scripts (co-registration + coherency)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Integrate existing scripts</a:t>
                      </a:r>
                      <a:r>
                        <a:rPr lang="en-US" sz="1200" dirty="0"/>
                        <a:t>?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546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400" b="1" kern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ETAD products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Develop support for </a:t>
                      </a:r>
                      <a:r>
                        <a:rPr lang="en-US" sz="1400" dirty="0" err="1"/>
                        <a:t>etad</a:t>
                      </a:r>
                      <a:r>
                        <a:rPr lang="en-US" sz="1400" dirty="0"/>
                        <a:t> products in </a:t>
                      </a:r>
                      <a:r>
                        <a:rPr lang="en-US" sz="1400" dirty="0" err="1"/>
                        <a:t>eo_products</a:t>
                      </a:r>
                      <a:r>
                        <a:rPr lang="en-US" sz="14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B050"/>
                          </a:solidFill>
                        </a:rPr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90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400" b="1" kern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RISAT reader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Develop reader in </a:t>
                      </a:r>
                      <a:r>
                        <a:rPr lang="en-US" sz="1400" dirty="0" err="1"/>
                        <a:t>eo_products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TBD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849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5174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UPDATES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89039" y="2778435"/>
            <a:ext cx="10795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r>
              <a:rPr lang="en-US" b="1" cap="small" dirty="0"/>
              <a:t> Quality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989039" y="4184551"/>
            <a:ext cx="107955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define operation flow and configurability (accessible tunable parameters)	</a:t>
            </a:r>
            <a:r>
              <a:rPr lang="en-US" dirty="0">
                <a:solidFill>
                  <a:srgbClr val="0070C0"/>
                </a:solidFill>
              </a:rPr>
              <a:t>	</a:t>
            </a:r>
            <a:r>
              <a:rPr lang="en-US" dirty="0">
                <a:solidFill>
                  <a:srgbClr val="FFC000"/>
                </a:solidFill>
              </a:rPr>
              <a:t>[~DONE]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documentation</a:t>
            </a:r>
            <a:r>
              <a:rPr lang="en-US" dirty="0">
                <a:solidFill>
                  <a:srgbClr val="FFC000"/>
                </a:solidFill>
              </a:rPr>
              <a:t>								</a:t>
            </a:r>
            <a:r>
              <a:rPr lang="en-US" dirty="0">
                <a:solidFill>
                  <a:srgbClr val="0070C0"/>
                </a:solidFill>
              </a:rPr>
              <a:t>[ONGOING]</a:t>
            </a:r>
            <a:endParaRPr lang="en-US" dirty="0">
              <a:solidFill>
                <a:srgbClr val="FFC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introduction of new products (ETAD and MPC)</a:t>
            </a:r>
            <a:r>
              <a:rPr lang="en-US" dirty="0">
                <a:solidFill>
                  <a:srgbClr val="C00000"/>
                </a:solidFill>
              </a:rPr>
              <a:t>					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gathering and database population + rethinking?</a:t>
            </a:r>
            <a:r>
              <a:rPr lang="en-US" dirty="0">
                <a:solidFill>
                  <a:srgbClr val="00B050"/>
                </a:solidFill>
              </a:rPr>
              <a:t>			</a:t>
            </a:r>
            <a:r>
              <a:rPr lang="en-US" dirty="0">
                <a:solidFill>
                  <a:srgbClr val="002060"/>
                </a:solidFill>
              </a:rPr>
              <a:t>[ON-HOLD]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interferometry analysis</a:t>
            </a:r>
            <a:r>
              <a:rPr lang="en-US" dirty="0">
                <a:solidFill>
                  <a:srgbClr val="C00000"/>
                </a:solidFill>
              </a:rPr>
              <a:t>							[?]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11D568-0E52-A5B3-A9D7-5930939B8919}"/>
              </a:ext>
            </a:extLst>
          </p:cNvPr>
          <p:cNvSpPr txBox="1"/>
          <p:nvPr/>
        </p:nvSpPr>
        <p:spPr>
          <a:xfrm>
            <a:off x="989041" y="1372319"/>
            <a:ext cx="10795519" cy="9233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cap="small" dirty="0"/>
              <a:t>MILESTONE 2/2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SLC complete Point Target Analysis and benchmarking with old SCT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GRD complete Point Target Analysis and benchmarking with old SCT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</p:txBody>
      </p:sp>
    </p:spTree>
    <p:extLst>
      <p:ext uri="{BB962C8B-B14F-4D97-AF65-F5344CB8AC3E}">
        <p14:creationId xmlns:p14="http://schemas.microsoft.com/office/powerpoint/2010/main" val="1731143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COMPLETED TASKS 1/2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1026364" y="2446299"/>
            <a:ext cx="107955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r>
              <a:rPr lang="en-US" b="1" cap="small" dirty="0"/>
              <a:t> Quality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refactoring to allow protocol-compliant input injection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refactoring to allow new </a:t>
            </a:r>
            <a:r>
              <a:rPr lang="en-US" dirty="0" err="1"/>
              <a:t>Aresys</a:t>
            </a:r>
            <a:r>
              <a:rPr lang="en-US" dirty="0"/>
              <a:t> product folder format from </a:t>
            </a:r>
            <a:r>
              <a:rPr lang="en-US" dirty="0" err="1"/>
              <a:t>arepytools</a:t>
            </a:r>
            <a:r>
              <a:rPr lang="en-US" dirty="0">
                <a:solidFill>
                  <a:srgbClr val="00B050"/>
                </a:solidFill>
              </a:rPr>
              <a:t>		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Radiometric Profiles (NESZ, Gamma, Scallop) implementation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SCT legacy report conversion</a:t>
            </a:r>
            <a:r>
              <a:rPr lang="en-US" dirty="0">
                <a:solidFill>
                  <a:srgbClr val="0070C0"/>
                </a:solidFill>
              </a:rPr>
              <a:t>			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0B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CB62A5-28A3-DC91-954B-F04A7E97FBD4}"/>
              </a:ext>
            </a:extLst>
          </p:cNvPr>
          <p:cNvSpPr txBox="1"/>
          <p:nvPr/>
        </p:nvSpPr>
        <p:spPr>
          <a:xfrm>
            <a:off x="1026366" y="1280806"/>
            <a:ext cx="10795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Arepytools</a:t>
            </a:r>
            <a:endParaRPr lang="en-US" b="1" cap="smal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</a:t>
            </a:r>
            <a:r>
              <a:rPr lang="en-US" dirty="0" err="1"/>
              <a:t>Aresys</a:t>
            </a:r>
            <a:r>
              <a:rPr lang="en-US" dirty="0"/>
              <a:t> product folder format implementation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  <a:endParaRPr lang="en-US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internal point target products management implementation</a:t>
            </a:r>
            <a:r>
              <a:rPr lang="en-US" dirty="0">
                <a:solidFill>
                  <a:srgbClr val="0070C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1026363" y="4097333"/>
            <a:ext cx="1079551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 1/2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perturbations management: understand where and how	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time corrections management: understand where and how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SQLite database schema definition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a new internal repository to host the project</a:t>
            </a:r>
            <a:r>
              <a:rPr lang="en-US" dirty="0">
                <a:solidFill>
                  <a:srgbClr val="C00000"/>
                </a:solidFill>
              </a:rPr>
              <a:t>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  <a:endParaRPr lang="en-US" dirty="0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orbits management: understand where and how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SAFE reader, compliant with input protocol</a:t>
            </a:r>
            <a:r>
              <a:rPr lang="en-US" dirty="0">
                <a:solidFill>
                  <a:srgbClr val="00B050"/>
                </a:solidFill>
              </a:rPr>
              <a:t>					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SQLite database schema definition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SQLite calibration site generation (scripts + DB)</a:t>
            </a:r>
            <a:r>
              <a:rPr lang="en-US" dirty="0">
                <a:solidFill>
                  <a:srgbClr val="00B050"/>
                </a:solidFill>
              </a:rPr>
              <a:t>					[DONE]</a:t>
            </a:r>
          </a:p>
        </p:txBody>
      </p:sp>
    </p:spTree>
    <p:extLst>
      <p:ext uri="{BB962C8B-B14F-4D97-AF65-F5344CB8AC3E}">
        <p14:creationId xmlns:p14="http://schemas.microsoft.com/office/powerpoint/2010/main" val="3285187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COMPLETED TASKS 2/2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1B552B-30A3-281A-18C8-D5C2DDB5507E}"/>
              </a:ext>
            </a:extLst>
          </p:cNvPr>
          <p:cNvSpPr txBox="1"/>
          <p:nvPr/>
        </p:nvSpPr>
        <p:spPr>
          <a:xfrm>
            <a:off x="1000485" y="1144637"/>
            <a:ext cx="107955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 2/2</a:t>
            </a:r>
          </a:p>
          <a:p>
            <a:endParaRPr lang="en-US" b="1" cap="smal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orbits management: understand where and how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orbits module (specific for sentinel-1) implementation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time corrections module (specific for sentinel-1) implementation	</a:t>
            </a:r>
            <a:r>
              <a:rPr lang="en-US" dirty="0">
                <a:solidFill>
                  <a:srgbClr val="C00000"/>
                </a:solidFill>
              </a:rPr>
              <a:t>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</p:txBody>
      </p:sp>
    </p:spTree>
    <p:extLst>
      <p:ext uri="{BB962C8B-B14F-4D97-AF65-F5344CB8AC3E}">
        <p14:creationId xmlns:p14="http://schemas.microsoft.com/office/powerpoint/2010/main" val="4178585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Calibration Sites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006082"/>
            <a:ext cx="10795519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Calibration sites DB management:</a:t>
            </a:r>
          </a:p>
          <a:p>
            <a:endParaRPr lang="en-US" sz="2800" dirty="0"/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How to manage calibration sites different from Surat Basin?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Delays? RCS? In DB or to be evaluated through formulas? (if they are signal dependent, they cannot be in a DB)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Support for external .csv template source file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Rosamond? Very difficult to add to DB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1464788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Web Scraping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225157"/>
            <a:ext cx="107955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Automatic download of what is needed to perform a complete</a:t>
            </a:r>
          </a:p>
          <a:p>
            <a:r>
              <a:rPr lang="en-US" sz="2800" dirty="0"/>
              <a:t>Analysis: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Rosamond point target data download (free access) DONE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Troposphere maps download (free access) DONE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Ionosphere maps download (authentication needed)</a:t>
            </a:r>
          </a:p>
          <a:p>
            <a:endParaRPr lang="en-US" sz="2800" dirty="0"/>
          </a:p>
          <a:p>
            <a:r>
              <a:rPr lang="en-US" sz="2800" dirty="0"/>
              <a:t>As a separate module? Internal only?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3011220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Open-Source Boundaries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225157"/>
            <a:ext cx="1079551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Understand what’s open-source and what’s not.</a:t>
            </a:r>
          </a:p>
          <a:p>
            <a:endParaRPr lang="en-US" sz="2800" dirty="0"/>
          </a:p>
          <a:p>
            <a:r>
              <a:rPr lang="en-US" sz="2800" dirty="0"/>
              <a:t>Define boundaries for the application as per ESA request.</a:t>
            </a:r>
          </a:p>
          <a:p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3641827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Public Side </a:t>
            </a:r>
            <a:r>
              <a:rPr lang="en-US" sz="3600" dirty="0"/>
              <a:t>– Status Updates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79712" y="2672179"/>
            <a:ext cx="107955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endParaRPr lang="en-US" b="1" cap="small" dirty="0"/>
          </a:p>
          <a:p>
            <a:r>
              <a:rPr lang="en-US" b="1" cap="small" dirty="0"/>
              <a:t>	Quality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v1.1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</a:t>
            </a:r>
            <a:r>
              <a:rPr lang="en-US" i="1" dirty="0">
                <a:solidFill>
                  <a:srgbClr val="C00000"/>
                </a:solidFill>
              </a:rPr>
              <a:t>	</a:t>
            </a:r>
            <a:r>
              <a:rPr lang="en-US" dirty="0">
                <a:solidFill>
                  <a:srgbClr val="C00000"/>
                </a:solidFill>
              </a:rPr>
              <a:t>[TBD]</a:t>
            </a:r>
            <a:endParaRPr lang="en-US" i="1" dirty="0">
              <a:solidFill>
                <a:srgbClr val="C00000"/>
              </a:solidFill>
            </a:endParaRPr>
          </a:p>
          <a:p>
            <a:r>
              <a:rPr lang="en-US" b="1" cap="small" dirty="0"/>
              <a:t>	Perturbations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v1.1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</a:t>
            </a:r>
            <a:r>
              <a:rPr lang="en-US" i="1" dirty="0">
                <a:solidFill>
                  <a:srgbClr val="C00000"/>
                </a:solidFill>
              </a:rPr>
              <a:t>	</a:t>
            </a:r>
            <a:r>
              <a:rPr lang="en-US" dirty="0">
                <a:solidFill>
                  <a:srgbClr val="C00000"/>
                </a:solidFill>
              </a:rPr>
              <a:t>[TBD]</a:t>
            </a:r>
            <a:endParaRPr lang="en-US" i="1" dirty="0"/>
          </a:p>
          <a:p>
            <a:pPr lvl="3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CB62A5-28A3-DC91-954B-F04A7E97FBD4}"/>
              </a:ext>
            </a:extLst>
          </p:cNvPr>
          <p:cNvSpPr txBox="1"/>
          <p:nvPr/>
        </p:nvSpPr>
        <p:spPr>
          <a:xfrm>
            <a:off x="979711" y="1553358"/>
            <a:ext cx="107955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Arepytools</a:t>
            </a:r>
            <a:endParaRPr lang="en-US" b="1" cap="smal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v1.6.0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979712" y="4426505"/>
            <a:ext cx="10795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new public </a:t>
            </a:r>
            <a:r>
              <a:rPr lang="en-US" dirty="0" err="1"/>
              <a:t>github</a:t>
            </a:r>
            <a:r>
              <a:rPr lang="en-US" dirty="0"/>
              <a:t> repository			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Release SCT side of project as open-source code and pre-built docker image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</p:txBody>
      </p:sp>
    </p:spTree>
    <p:extLst>
      <p:ext uri="{BB962C8B-B14F-4D97-AF65-F5344CB8AC3E}">
        <p14:creationId xmlns:p14="http://schemas.microsoft.com/office/powerpoint/2010/main" val="3753827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92474E6-3035-46B8-9C05-9B4204E8E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06/11/2023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5D838446-B95D-4AB7-B8CA-D5804BB79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DE8D546E-0F46-4CC0-B2B1-8B2430D0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811370" y="1675796"/>
            <a:ext cx="3314382" cy="365125"/>
          </a:xfrm>
        </p:spPr>
        <p:txBody>
          <a:bodyPr/>
          <a:lstStyle/>
          <a:p>
            <a:r>
              <a:rPr lang="en-US" dirty="0"/>
              <a:t>New SCT – Status updates</a:t>
            </a:r>
          </a:p>
        </p:txBody>
      </p:sp>
      <p:pic>
        <p:nvPicPr>
          <p:cNvPr id="9" name="Picture Placeholder 8" descr="mountains at sunset">
            <a:extLst>
              <a:ext uri="{FF2B5EF4-FFF2-40B4-BE49-F238E27FC236}">
                <a16:creationId xmlns:a16="http://schemas.microsoft.com/office/drawing/2014/main" id="{C82DA925-978C-48A9-98AD-0653B7A3D2D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41" b="41"/>
          <a:stretch/>
        </p:blipFill>
        <p:spPr/>
      </p:pic>
      <p:pic>
        <p:nvPicPr>
          <p:cNvPr id="11" name="Picture Placeholder 10" descr="mountains at sunset">
            <a:extLst>
              <a:ext uri="{FF2B5EF4-FFF2-40B4-BE49-F238E27FC236}">
                <a16:creationId xmlns:a16="http://schemas.microsoft.com/office/drawing/2014/main" id="{E63B7C3F-04A4-43F6-881D-FA11061CBA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/>
          <a:srcRect t="347" b="347"/>
          <a:stretch/>
        </p:blipFill>
        <p:spPr/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F777B66-94CB-491C-AC6B-BDAC98E21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pic>
        <p:nvPicPr>
          <p:cNvPr id="15" name="Picture Placeholder 14" descr="mountains under near dusk sky">
            <a:extLst>
              <a:ext uri="{FF2B5EF4-FFF2-40B4-BE49-F238E27FC236}">
                <a16:creationId xmlns:a16="http://schemas.microsoft.com/office/drawing/2014/main" id="{3D15FDC1-74B5-4FD8-BD17-0E2502C411A6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 rotWithShape="1">
          <a:blip r:embed="rId4"/>
          <a:srcRect l="16" r="16"/>
          <a:stretch/>
        </p:blipFill>
        <p:spPr/>
      </p:pic>
      <p:pic>
        <p:nvPicPr>
          <p:cNvPr id="13" name="Picture Placeholder 12" descr="mountains under the night sky just before dawn">
            <a:extLst>
              <a:ext uri="{FF2B5EF4-FFF2-40B4-BE49-F238E27FC236}">
                <a16:creationId xmlns:a16="http://schemas.microsoft.com/office/drawing/2014/main" id="{E02C4914-F076-4415-9C5D-A9BDB6CC6110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5"/>
          <a:srcRect t="108" b="108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19C6-E47E-68F7-834A-03036B417B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31315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Univers" id="{D909BD3F-B240-4348-8BE3-67FDD68BA7A7}" vid="{4848699B-BB01-41E3-9EC4-3D97DFE529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9919F73-B6C2-4A43-95E2-833EC48925FE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3C8E00D1-8EA3-4E42-801D-0253E1EAFC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A67D12-FAB5-406C-9279-3EAA5A20A61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{0847EA3F-EF77-45EF-B5CC-186D36D9A9C2}tf89338750_win32</Template>
  <TotalTime>1510</TotalTime>
  <Words>934</Words>
  <Application>Microsoft Office PowerPoint</Application>
  <PresentationFormat>Widescreen</PresentationFormat>
  <Paragraphs>193</Paragraphs>
  <Slides>15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ADLaM Display</vt:lpstr>
      <vt:lpstr>Amasis MT Pro Black</vt:lpstr>
      <vt:lpstr>Arial</vt:lpstr>
      <vt:lpstr>Calibri</vt:lpstr>
      <vt:lpstr>Univers</vt:lpstr>
      <vt:lpstr>Custom</vt:lpstr>
      <vt:lpstr>New SCT status updates v1.6</vt:lpstr>
      <vt:lpstr>High Level Software Architecture</vt:lpstr>
      <vt:lpstr>High Level Software Architecture</vt:lpstr>
      <vt:lpstr>High Level Software Architecture</vt:lpstr>
      <vt:lpstr>High Level Software Architecture - Arepyextras</vt:lpstr>
      <vt:lpstr>Supported Missions and Products</vt:lpstr>
      <vt:lpstr>OPEN POINTS (ESA)</vt:lpstr>
      <vt:lpstr>Private Side – UPDATES</vt:lpstr>
      <vt:lpstr>Private Side – COMPLETED TASKS 1/2</vt:lpstr>
      <vt:lpstr>Private Side – COMPLETED TASKS 2/2</vt:lpstr>
      <vt:lpstr>Private side – Calibration Sites</vt:lpstr>
      <vt:lpstr>Private side – Web Scraping</vt:lpstr>
      <vt:lpstr>Private side – Open-Source Boundaries</vt:lpstr>
      <vt:lpstr>Public Side – Status Updates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Integration Tests CI</dc:title>
  <dc:creator>Giorgio Parma</dc:creator>
  <cp:lastModifiedBy>Giorgio Parma</cp:lastModifiedBy>
  <cp:revision>55</cp:revision>
  <dcterms:created xsi:type="dcterms:W3CDTF">2023-09-19T08:16:15Z</dcterms:created>
  <dcterms:modified xsi:type="dcterms:W3CDTF">2024-03-25T09:12:25Z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